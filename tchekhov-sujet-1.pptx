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en une phrase : d'abord d'où vient ce regard, puis ce qu'il éclaire de la société russe, puis ce qu'il éclaire de l'intérieur des êtres, et enfin ce que cela nous demande à nous qui devons jouer ces textes.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temps, dix minutes. Ne pas s'attarder : lire les quatre titres et enchaîner.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phrase qui donne la clé de tout l'exposé. Ce n'est pas une boutade : Tchekhov regarde la Russie comme un clinicien regarde un patient. Il observe, il note les symptômes, il ne prescrit rien et il ne juge pas. Toute son œuvre est un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comprendre ce regard, il faut comprendre d'où il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grand-père rachète sa liberté en 1841 : 3 500 roubles, 700 par tête. Tchekhov est le petit-fils d'un homme qui a acheté sa propre personne — d'où l'obsession de la dignité et de son contraire, la servilité. Le père, épicier dévot et tyrannique, fait chanter ses enfants à l'aube avant de les mettre derrière le comptoir : « Dans mon enfance, il n'y a pas eu d'enfance. » En 1876 la faillite ; Anton reste seul à Taganrog trois ans, donne des leçons, envoie de l'argent à Moscou. L'argent, la déchéance des familles, la maison qu'on perd : c'est La Cerisaie avant La Cerisaie.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diplôme en 1884, et un exercice réel : à Melikhovo il soigne gratuitement les paysans, organise la lutte contre le choléra, fait construire trois écoles. Il voit la misère de près, sans le romantisme des intellectuels qui parlaient du peuple sans le fréquenter. Et la médecine lui donne sa méthode : l'artiste n'est pas le juge de ses personnages, seulement un témoin impartial. Un médecin ne juge pas un patient, il décrit ce qu'il voit.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1890 : déjà malade, il traverse la Sibérie pendant près de trois mois pour rejoindre le bagne de Sakhaline. Il y fait seul un recensement d'environ dix mille personnes, fiche par fiche, et interroge les forçats, les femmes, les enfants. Personne ne lui a rien demandé. C'est sa manière de s'engager : non par des idées, mais par le regard porté sur ceux que personne ne regarde.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Décembre 1884, vingt-quatre ans, première hémoptysie. Il est médecin, il sait, et il refuse treize ans de prononcer le mot. En 1889 son frère Nikolaï meurt de la même maladie sous ses yeux. En mars 1897 une hémorragie massive dans un restaurant de Moscou le force à admettre l'évidence : il lui reste sept ans. Retenir ceci : toute son œuvre de maturité est écrite par un homme qui sait qu'il n'aura pas le temps. D'où les personnages qui disent « dans deux cents ans » parce qu'ils savent qu'ils ne verront rien de ce qu'ils espèrent.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niveau du diagnostic : la société.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servage est aboli en 1861, un an après sa naissance, et la Russie ne sait pas quoi faire de cette liberté. Trois blocs : une noblesse ruinée qui vit dans le souvenir, une classe de marchands souvent issus du servage qui rachète les domaines, et des paysans libres sur le papier mais dans une misère effroyable. Tchekhov décrit les trois sans en épargner aucun.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Cerisaie met tout cela sur un plateau. Lioubov ne comprend pas qu'elle doit vendre ; Lopakhine, dont le père et le grand-père étaient serfs dans ce domaine, l'achète. Et Tchekhov a lui-même été Lopakhine : en 1892, petit-fils de serf, il achète sur petite annonce, sans l'avoir vu, un domaine de plus de deux cents hectares, et écrit à un ami, mi-fier mi-moqueur : « Je veux être duc. » Il ne condamne personne, il constate.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sa cible principale, et ce sont ses personnages de théâtre — donc ce qui nous concerne le plus. Les trois sœurs répètent « À Moscou ! » pendant quatre actes et ne partent jamais. Vania découvre à quarante-sept ans qu'il a sacrifié sa vie à un professeur médiocre. Trofimov fait des discours sur l'avenir et ne finit pas ses études. Ces gens vivent dans un futur ou un passé, jamais dans le présent. Face à eux, Tchekhov place toujours un travailleur : Astrov, Lopakhine, Sonia. Le travail est chez lui la seule valeur à peu près sûre — ce n'est pas une idéologie, c'est l'expérience de l'homme qui nourrit sa famille depuis seize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Salle n° 6, 1892, sa nouvelle la plus politique : un médecin de province se met à parler avec un aliéné plus intelligent que tous les gens sains de la ville, et finit enfermé dans la salle n° 6, où il meurt sous les coups du gardien. Lénine a dit avoir eu l'impression, en la lisant, d'être lui-même enfermé. Sans un mot sur le tsar, Tchekhov montre une société entière comme un asile où la pensée est un danger. L'Homme à l'étui raconte l'inverse : un professeur enfermé dans ses caoutchoucs et ses règlements, qui terrorise toute une ville par sa peur. La servilité,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refuse toute sa vie d'appartenir à un camp : ni libéral, ni conservateur, ni progressiste ; il hait le mensonge et la violence sous toutes leurs formes et voudrait être un artiste libre, rien de plus. Il s'éloigne de Tolstoï quand la non-résistance au mal lui apparaît comme un mensonge de plus. Mais ce refus des étiquettes n'est pas de l'indifférence : en 1898 il prend le parti de Zola dans l'affaire Dreyfus et se brouille avec Souvorine, son ami, dont le journal est antisémite — sans jamais rompre tout à fait. En 1902 il démissionne de l'Académie quand le tsar annule l'élection de Gorki. Il s'engage sur des faits, jamais sur des programmes.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niveau du diagnostic : l'intérieur. C'est la partie qui nous concerne directement comme acteurs.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l'invention du sous-texte. Les personnages de Tchekhov parlent constamment et ne se répondent jamais : Tchéboutykine lit son journal pendant que les autres se déchirent, Gaev fait un discours à une armoire, on parle du temps qu'il fait au moment où une vie se brise. Pour nous, cela veut dire que le texte n'est que la surface : le travail consiste à jouer ce qui est en dessous.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Russes ont un mot intraduisible, pochlost' : la vulgarité satisfaite, la médiocrité confortable, la petitesse qui ne se sait pas petite. C'est le grand danger chez Tchekhov. Ionytch raconte en trente pages comment un jeune médecin idéaliste devient un homme gras, riche et vide qui compte ses billets le soir. Rien de dramatique ne s'est passé : la vie l'a simplement usé. Même chose pour le professeur d'Une banale histoire, qui découvre à soixante-deux ans qu'il n'a pas d'idée générale — rien qui tienne ensemble ce qu'il a vécu. Et l'homme qui écrit cela sait depuis ses vingt-quatre ans qu'il mourra jeune.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capital pour nous. Tchekhov a sous-titré La Mouette et La Cerisaie « comédies », c'est imprimé sur les pièces. Il s'est disputé avec Stanislavski, qui montait La Cerisaie comme une tragédie larmoyante : lisez les deux lettres, à un mois d'intervalle, ils ne parlent pas de la même pièce. Chez Tchekhov le ridicule et le déchirant sont la même chose : Épikhodov se cogne partout et c'est drôle ; Vania tire deux fois sur le professeur et le rate deux fois, et c'est drôle, et c'est atroce. Jouer Tchekhov, c'est refuser de choisir entre rire et pleurer.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tout cela nous demande concrètement, à 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conséquences pratiques. Un : ce que le personnage dit n'est jamais ce qu'il ressent, donc le texte est une surface et le travail est dessous. Deux : ne pas choisir entre le rire et les larmes — tenir les deux en même temps. Trois : pas de héros, pas de méchant, seulement des gens qui essaient, qui se ratent et qui continuent ; donc aucun personnage à juger, comme le médecin ne juge pas son patient. Quatre : le monologue final de Sonia, « Nous nous reposerons... » — consolation ou illusion ? Tchekhov ne tranche pas. C'est à l'acteur de décider ce que Sonia croit vraiment, et c'est précisément ce qui rend ce monologue si difficile.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repères — à laisser affichée si des questions arrivent. Ne pas la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 tout ce qu'il met en lumière découle de sa position — petit-fils d'esclave devenu médecin, qui a vu la misère de près et qui vit avec une mort annoncée. Ce regard produit une révolution de forme : des nouvelles sans intrigue, des pièces sans action, des fins qui ne concluent rien. Rien n'est résolu à la fin de La Cerisaie, on entend seulement les coups de hache dans le jardin. Il résumait son ambition ainsi. Pas pour condamner : pour qu'ils se voient. Un diagnostic, encore. C'est pour ce regard, et pour ce qu'il exige de l'acteur, qu'on l'étudie toujours dans les écoles de théâtre — ce sera l'objet du second exposé.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26795" y="3514607"/>
            <a:ext cx="12578325" cy="2019404"/>
          </a:xfrm>
          <a:prstGeom prst="rect">
            <a:avLst/>
          </a:prstGeom>
          <a:noFill/>
          <a:ln/>
        </p:spPr>
        <p:txBody>
          <a:bodyPr wrap="square" lIns="25400" tIns="25400" rIns="25400" bIns="25400" rtlCol="0" anchor="t">
            <a:normAutofit/>
          </a:bodyPr>
          <a:lstStyle/>
          <a:p>
            <a:pPr algn="l" indent="0" marL="0">
              <a:lnSpc>
                <a:spcPct val="76804"/>
              </a:lnSpc>
              <a:buNone/>
            </a:pPr>
            <a:r>
              <a:rPr lang="en-US" sz="8400" spc="-126" kern="0" dirty="0">
                <a:solidFill>
                  <a:srgbClr val="201F1D"/>
                </a:solidFill>
                <a:latin typeface="Cormorant Garamond" pitchFamily="34" charset="0"/>
                <a:ea typeface="Cormorant Garamond" pitchFamily="34" charset="-122"/>
                <a:cs typeface="Cormorant Garamond" pitchFamily="34" charset="-120"/>
              </a:rPr>
              <a:t>Tchekhov, le médecin qui diagnostique une époque</a:t>
            </a:r>
            <a:endParaRPr lang="en-US" sz="8400" dirty="0"/>
          </a:p>
        </p:txBody>
      </p:sp>
      <p:sp>
        <p:nvSpPr>
          <p:cNvPr id="3" name="Text 1"/>
          <p:cNvSpPr/>
          <p:nvPr/>
        </p:nvSpPr>
        <p:spPr>
          <a:xfrm>
            <a:off x="1371515" y="5895909"/>
            <a:ext cx="9211682" cy="1028752"/>
          </a:xfrm>
          <a:prstGeom prst="rect">
            <a:avLst/>
          </a:prstGeom>
          <a:noFill/>
          <a:ln/>
        </p:spPr>
        <p:txBody>
          <a:bodyPr wrap="square" lIns="25400" tIns="25400" rIns="25400" bIns="25400" rtlCol="0" anchor="t">
            <a:normAutofit/>
          </a:bodyPr>
          <a:lstStyle/>
          <a:p>
            <a:pPr algn="l" indent="0" marL="0">
              <a:lnSpc>
                <a:spcPct val="96276"/>
              </a:lnSpc>
              <a:buNone/>
            </a:pPr>
            <a:r>
              <a:rPr lang="en-US" sz="3150" dirty="0">
                <a:solidFill>
                  <a:srgbClr val="211F1D">
                    <a:alpha val="55000"/>
                  </a:srgbClr>
                </a:solidFill>
                <a:latin typeface="Lora" pitchFamily="34" charset="0"/>
                <a:ea typeface="Lora" pitchFamily="34" charset="-122"/>
                <a:cs typeface="Lora" pitchFamily="34" charset="-120"/>
              </a:rPr>
              <a:t>Ce que ses textes mettent en lumière, et ce que sa vie en explique</a:t>
            </a:r>
            <a:endParaRPr lang="en-US" sz="3150" dirty="0"/>
          </a:p>
        </p:txBody>
      </p:sp>
      <p:sp>
        <p:nvSpPr>
          <p:cNvPr id="4" name="Text 2"/>
          <p:cNvSpPr/>
          <p:nvPr/>
        </p:nvSpPr>
        <p:spPr>
          <a:xfrm>
            <a:off x="1371515" y="9250766"/>
            <a:ext cx="1373417"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211F1D">
                    <a:alpha val="55000"/>
                  </a:srgbClr>
                </a:solidFill>
                <a:latin typeface="Lora" pitchFamily="34" charset="0"/>
                <a:ea typeface="Lora" pitchFamily="34" charset="-122"/>
                <a:cs typeface="Lora" pitchFamily="34" charset="-120"/>
              </a:rPr>
              <a:t>Exposé oral</a:t>
            </a:r>
            <a:endParaRPr lang="en-US" sz="1800" dirty="0"/>
          </a:p>
        </p:txBody>
      </p:sp>
      <p:sp>
        <p:nvSpPr>
          <p:cNvPr id="5" name="Text 3"/>
          <p:cNvSpPr/>
          <p:nvPr/>
        </p:nvSpPr>
        <p:spPr>
          <a:xfrm>
            <a:off x="2791488" y="9250766"/>
            <a:ext cx="133375"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211F1D">
                    <a:alpha val="55000"/>
                  </a:srgbClr>
                </a:solidFill>
                <a:latin typeface="Lora" pitchFamily="34" charset="0"/>
                <a:ea typeface="Lora" pitchFamily="34" charset="-122"/>
                <a:cs typeface="Lora" pitchFamily="34" charset="-120"/>
              </a:rPr>
              <a:t>·</a:t>
            </a:r>
            <a:endParaRPr lang="en-US" sz="1800" dirty="0"/>
          </a:p>
        </p:txBody>
      </p:sp>
      <p:sp>
        <p:nvSpPr>
          <p:cNvPr id="6" name="Text 4"/>
          <p:cNvSpPr/>
          <p:nvPr/>
        </p:nvSpPr>
        <p:spPr>
          <a:xfrm>
            <a:off x="3020074" y="9250766"/>
            <a:ext cx="2000347"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211F1D">
                    <a:alpha val="55000"/>
                  </a:srgbClr>
                </a:solidFill>
                <a:latin typeface="Lora" pitchFamily="34" charset="0"/>
                <a:ea typeface="Lora" pitchFamily="34" charset="-122"/>
                <a:cs typeface="Lora" pitchFamily="34" charset="-120"/>
              </a:rPr>
              <a:t>Cours de théâtre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Sommaire</a:t>
            </a:r>
            <a:endParaRPr lang="en-US" sz="5700" dirty="0"/>
          </a:p>
        </p:txBody>
      </p:sp>
      <p:sp>
        <p:nvSpPr>
          <p:cNvPr id="3" name="Shape 1"/>
          <p:cNvSpPr/>
          <p:nvPr/>
        </p:nvSpPr>
        <p:spPr>
          <a:xfrm>
            <a:off x="1371515" y="3467056"/>
            <a:ext cx="11429974" cy="9525"/>
          </a:xfrm>
          <a:prstGeom prst="rect">
            <a:avLst/>
          </a:prstGeom>
          <a:solidFill>
            <a:srgbClr val="1F1F1F">
              <a:alpha val="16000"/>
            </a:srgbClr>
          </a:solidFill>
          <a:ln/>
        </p:spPr>
      </p:sp>
      <p:sp>
        <p:nvSpPr>
          <p:cNvPr id="4" name="Shape 2"/>
          <p:cNvSpPr/>
          <p:nvPr/>
        </p:nvSpPr>
        <p:spPr>
          <a:xfrm>
            <a:off x="1371515" y="4950543"/>
            <a:ext cx="11429974" cy="9525"/>
          </a:xfrm>
          <a:prstGeom prst="rect">
            <a:avLst/>
          </a:prstGeom>
          <a:solidFill>
            <a:srgbClr val="1F1F1F">
              <a:alpha val="16000"/>
            </a:srgbClr>
          </a:solidFill>
          <a:ln/>
        </p:spPr>
      </p:sp>
      <p:sp>
        <p:nvSpPr>
          <p:cNvPr id="5" name="Text 3"/>
          <p:cNvSpPr/>
          <p:nvPr/>
        </p:nvSpPr>
        <p:spPr>
          <a:xfrm>
            <a:off x="1371515" y="4192440"/>
            <a:ext cx="373396"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B68235"/>
                </a:solidFill>
                <a:latin typeface="Lora" pitchFamily="34" charset="0"/>
                <a:ea typeface="Lora" pitchFamily="34" charset="-122"/>
                <a:cs typeface="Lora" pitchFamily="34" charset="-120"/>
              </a:rPr>
              <a:t>01</a:t>
            </a:r>
            <a:endParaRPr lang="en-US" sz="1800" dirty="0"/>
          </a:p>
        </p:txBody>
      </p:sp>
      <p:sp>
        <p:nvSpPr>
          <p:cNvPr id="6" name="Text 4"/>
          <p:cNvSpPr/>
          <p:nvPr/>
        </p:nvSpPr>
        <p:spPr>
          <a:xfrm>
            <a:off x="2183058" y="4072429"/>
            <a:ext cx="5579975" cy="318087"/>
          </a:xfrm>
          <a:prstGeom prst="rect">
            <a:avLst/>
          </a:prstGeom>
          <a:noFill/>
          <a:ln/>
        </p:spPr>
        <p:txBody>
          <a:bodyPr wrap="square" lIns="25400" tIns="25400" rIns="25400" bIns="25400" rtlCol="0" anchor="t">
            <a:normAutofit/>
          </a:bodyPr>
          <a:lstStyle/>
          <a:p>
            <a:pPr algn="l" indent="0" marL="0">
              <a:lnSpc>
                <a:spcPct val="120530"/>
              </a:lnSpc>
              <a:buNone/>
            </a:pPr>
            <a:r>
              <a:rPr lang="en-US" sz="3150" dirty="0">
                <a:solidFill>
                  <a:srgbClr val="201F1D"/>
                </a:solidFill>
                <a:latin typeface="Lora" pitchFamily="34" charset="0"/>
                <a:ea typeface="Lora" pitchFamily="34" charset="-122"/>
                <a:cs typeface="Lora" pitchFamily="34" charset="-120"/>
              </a:rPr>
              <a:t>L'homme derrière le regard</a:t>
            </a:r>
            <a:endParaRPr lang="en-US" sz="3150" dirty="0"/>
          </a:p>
        </p:txBody>
      </p:sp>
      <p:sp>
        <p:nvSpPr>
          <p:cNvPr id="7" name="Shape 5"/>
          <p:cNvSpPr/>
          <p:nvPr/>
        </p:nvSpPr>
        <p:spPr>
          <a:xfrm>
            <a:off x="1371515" y="6434031"/>
            <a:ext cx="11429974" cy="9525"/>
          </a:xfrm>
          <a:prstGeom prst="rect">
            <a:avLst/>
          </a:prstGeom>
          <a:solidFill>
            <a:srgbClr val="1F1F1F">
              <a:alpha val="16000"/>
            </a:srgbClr>
          </a:solidFill>
          <a:ln/>
        </p:spPr>
      </p:sp>
      <p:sp>
        <p:nvSpPr>
          <p:cNvPr id="8" name="Text 6"/>
          <p:cNvSpPr/>
          <p:nvPr/>
        </p:nvSpPr>
        <p:spPr>
          <a:xfrm>
            <a:off x="1371515" y="5675927"/>
            <a:ext cx="373396"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B68235"/>
                </a:solidFill>
                <a:latin typeface="Lora" pitchFamily="34" charset="0"/>
                <a:ea typeface="Lora" pitchFamily="34" charset="-122"/>
                <a:cs typeface="Lora" pitchFamily="34" charset="-120"/>
              </a:rPr>
              <a:t>02</a:t>
            </a:r>
            <a:endParaRPr lang="en-US" sz="1800" dirty="0"/>
          </a:p>
        </p:txBody>
      </p:sp>
      <p:sp>
        <p:nvSpPr>
          <p:cNvPr id="9" name="Text 7"/>
          <p:cNvSpPr/>
          <p:nvPr/>
        </p:nvSpPr>
        <p:spPr>
          <a:xfrm>
            <a:off x="2183058" y="5555917"/>
            <a:ext cx="4828755" cy="318087"/>
          </a:xfrm>
          <a:prstGeom prst="rect">
            <a:avLst/>
          </a:prstGeom>
          <a:noFill/>
          <a:ln/>
        </p:spPr>
        <p:txBody>
          <a:bodyPr wrap="square" lIns="25400" tIns="25400" rIns="25400" bIns="25400" rtlCol="0" anchor="t">
            <a:normAutofit/>
          </a:bodyPr>
          <a:lstStyle/>
          <a:p>
            <a:pPr algn="l" indent="0" marL="0">
              <a:lnSpc>
                <a:spcPct val="120530"/>
              </a:lnSpc>
              <a:buNone/>
            </a:pPr>
            <a:r>
              <a:rPr lang="en-US" sz="3150" dirty="0">
                <a:solidFill>
                  <a:srgbClr val="201F1D"/>
                </a:solidFill>
                <a:latin typeface="Lora" pitchFamily="34" charset="0"/>
                <a:ea typeface="Lora" pitchFamily="34" charset="-122"/>
                <a:cs typeface="Lora" pitchFamily="34" charset="-120"/>
              </a:rPr>
              <a:t>Une société qui bascule</a:t>
            </a:r>
            <a:endParaRPr lang="en-US" sz="3150" dirty="0"/>
          </a:p>
        </p:txBody>
      </p:sp>
      <p:sp>
        <p:nvSpPr>
          <p:cNvPr id="10" name="Shape 8"/>
          <p:cNvSpPr/>
          <p:nvPr/>
        </p:nvSpPr>
        <p:spPr>
          <a:xfrm>
            <a:off x="1371515" y="7917518"/>
            <a:ext cx="11429974" cy="9525"/>
          </a:xfrm>
          <a:prstGeom prst="rect">
            <a:avLst/>
          </a:prstGeom>
          <a:solidFill>
            <a:srgbClr val="1F1F1F">
              <a:alpha val="16000"/>
            </a:srgbClr>
          </a:solidFill>
          <a:ln/>
        </p:spPr>
      </p:sp>
      <p:sp>
        <p:nvSpPr>
          <p:cNvPr id="11" name="Text 9"/>
          <p:cNvSpPr/>
          <p:nvPr/>
        </p:nvSpPr>
        <p:spPr>
          <a:xfrm>
            <a:off x="1371515" y="7159415"/>
            <a:ext cx="373396"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B68235"/>
                </a:solidFill>
                <a:latin typeface="Lora" pitchFamily="34" charset="0"/>
                <a:ea typeface="Lora" pitchFamily="34" charset="-122"/>
                <a:cs typeface="Lora" pitchFamily="34" charset="-120"/>
              </a:rPr>
              <a:t>03</a:t>
            </a:r>
            <a:endParaRPr lang="en-US" sz="1800" dirty="0"/>
          </a:p>
        </p:txBody>
      </p:sp>
      <p:sp>
        <p:nvSpPr>
          <p:cNvPr id="12" name="Text 10"/>
          <p:cNvSpPr/>
          <p:nvPr/>
        </p:nvSpPr>
        <p:spPr>
          <a:xfrm>
            <a:off x="2183058" y="7039404"/>
            <a:ext cx="4084136" cy="318087"/>
          </a:xfrm>
          <a:prstGeom prst="rect">
            <a:avLst/>
          </a:prstGeom>
          <a:noFill/>
          <a:ln/>
        </p:spPr>
        <p:txBody>
          <a:bodyPr wrap="square" lIns="25400" tIns="25400" rIns="25400" bIns="25400" rtlCol="0" anchor="t">
            <a:normAutofit/>
          </a:bodyPr>
          <a:lstStyle/>
          <a:p>
            <a:pPr algn="l" indent="0" marL="0">
              <a:lnSpc>
                <a:spcPct val="120530"/>
              </a:lnSpc>
              <a:buNone/>
            </a:pPr>
            <a:r>
              <a:rPr lang="en-US" sz="3150" dirty="0">
                <a:solidFill>
                  <a:srgbClr val="201F1D"/>
                </a:solidFill>
                <a:latin typeface="Lora" pitchFamily="34" charset="0"/>
                <a:ea typeface="Lora" pitchFamily="34" charset="-122"/>
                <a:cs typeface="Lora" pitchFamily="34" charset="-120"/>
              </a:rPr>
              <a:t>L'intérieur des êtres</a:t>
            </a:r>
            <a:endParaRPr lang="en-US" sz="3150" dirty="0"/>
          </a:p>
        </p:txBody>
      </p:sp>
      <p:sp>
        <p:nvSpPr>
          <p:cNvPr id="13" name="Shape 11"/>
          <p:cNvSpPr/>
          <p:nvPr/>
        </p:nvSpPr>
        <p:spPr>
          <a:xfrm>
            <a:off x="1371515" y="9401005"/>
            <a:ext cx="11429974" cy="9525"/>
          </a:xfrm>
          <a:prstGeom prst="rect">
            <a:avLst/>
          </a:prstGeom>
          <a:solidFill>
            <a:srgbClr val="1F1F1F">
              <a:alpha val="16000"/>
            </a:srgbClr>
          </a:solidFill>
          <a:ln/>
        </p:spPr>
      </p:sp>
      <p:sp>
        <p:nvSpPr>
          <p:cNvPr id="14" name="Text 12"/>
          <p:cNvSpPr/>
          <p:nvPr/>
        </p:nvSpPr>
        <p:spPr>
          <a:xfrm>
            <a:off x="1371515" y="8642902"/>
            <a:ext cx="373396" cy="198076"/>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B68235"/>
                </a:solidFill>
                <a:latin typeface="Lora" pitchFamily="34" charset="0"/>
                <a:ea typeface="Lora" pitchFamily="34" charset="-122"/>
                <a:cs typeface="Lora" pitchFamily="34" charset="-120"/>
              </a:rPr>
              <a:t>04</a:t>
            </a:r>
            <a:endParaRPr lang="en-US" sz="1800" dirty="0"/>
          </a:p>
        </p:txBody>
      </p:sp>
      <p:sp>
        <p:nvSpPr>
          <p:cNvPr id="15" name="Text 13"/>
          <p:cNvSpPr/>
          <p:nvPr/>
        </p:nvSpPr>
        <p:spPr>
          <a:xfrm>
            <a:off x="2183058" y="8522891"/>
            <a:ext cx="3200531" cy="318087"/>
          </a:xfrm>
          <a:prstGeom prst="rect">
            <a:avLst/>
          </a:prstGeom>
          <a:noFill/>
          <a:ln/>
        </p:spPr>
        <p:txBody>
          <a:bodyPr wrap="square" lIns="25400" tIns="25400" rIns="25400" bIns="25400" rtlCol="0" anchor="t">
            <a:normAutofit/>
          </a:bodyPr>
          <a:lstStyle/>
          <a:p>
            <a:pPr algn="l" indent="0" marL="0">
              <a:lnSpc>
                <a:spcPct val="120530"/>
              </a:lnSpc>
              <a:buNone/>
            </a:pPr>
            <a:r>
              <a:rPr lang="en-US" sz="3150" dirty="0">
                <a:solidFill>
                  <a:srgbClr val="201F1D"/>
                </a:solidFill>
                <a:latin typeface="Lora" pitchFamily="34" charset="0"/>
                <a:ea typeface="Lora" pitchFamily="34" charset="-122"/>
                <a:cs typeface="Lora" pitchFamily="34" charset="-120"/>
              </a:rPr>
              <a:t>Jouer Tchekhov</a:t>
            </a:r>
            <a:endParaRPr lang="en-US" sz="3150" dirty="0"/>
          </a:p>
        </p:txBody>
      </p:sp>
      <p:pic>
        <p:nvPicPr>
          <p:cNvPr id="16" name="Image 0" descr="preencoded.png">    </p:cNvPr>
          <p:cNvPicPr>
            <a:picLocks noChangeAspect="1"/>
          </p:cNvPicPr>
          <p:nvPr/>
        </p:nvPicPr>
        <p:blipFill>
          <a:blip r:embed="rId1"/>
          <a:stretch>
            <a:fillRect/>
          </a:stretch>
        </p:blipFill>
        <p:spPr>
          <a:xfrm>
            <a:off x="1371515" y="9745979"/>
            <a:ext cx="2443684" cy="1599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71515" y="830563"/>
            <a:ext cx="17099347" cy="198076"/>
          </a:xfrm>
          <a:prstGeom prst="rect">
            <a:avLst/>
          </a:prstGeom>
          <a:noFill/>
          <a:ln/>
        </p:spPr>
        <p:txBody>
          <a:bodyPr wrap="none" lIns="25400" tIns="25400" rIns="25400" bIns="25400" rtlCol="0" anchor="t">
            <a:normAutofit/>
          </a:bodyPr>
          <a:lstStyle/>
          <a:p>
            <a:pPr algn="l" indent="0" marL="0">
              <a:lnSpc>
                <a:spcPct val="119270"/>
              </a:lnSpc>
              <a:buNone/>
            </a:pPr>
            <a:r>
              <a:rPr lang="en-US" sz="1800" spc="144" kern="0" dirty="0">
                <a:solidFill>
                  <a:srgbClr val="B68235"/>
                </a:solidFill>
                <a:latin typeface="Lora" pitchFamily="34" charset="0"/>
                <a:ea typeface="Lora" pitchFamily="34" charset="-122"/>
                <a:cs typeface="Lora" pitchFamily="34" charset="-120"/>
              </a:rPr>
              <a:t>INTRODUCTION</a:t>
            </a:r>
            <a:endParaRPr lang="en-US" sz="1800" dirty="0"/>
          </a:p>
        </p:txBody>
      </p:sp>
      <p:sp>
        <p:nvSpPr>
          <p:cNvPr id="3" name="Text 1"/>
          <p:cNvSpPr/>
          <p:nvPr/>
        </p:nvSpPr>
        <p:spPr>
          <a:xfrm>
            <a:off x="1371515" y="3988648"/>
            <a:ext cx="9264858" cy="1523965"/>
          </a:xfrm>
          <a:prstGeom prst="rect">
            <a:avLst/>
          </a:prstGeom>
          <a:noFill/>
          <a:ln/>
        </p:spPr>
        <p:txBody>
          <a:bodyPr wrap="square" lIns="25400" tIns="25400" rIns="25400" bIns="25400" rtlCol="0" anchor="t">
            <a:normAutofit/>
          </a:bodyPr>
          <a:lstStyle/>
          <a:p>
            <a:pPr algn="l" indent="0" marL="0">
              <a:lnSpc>
                <a:spcPct val="97651"/>
              </a:lnSpc>
              <a:buNone/>
            </a:pPr>
            <a:r>
              <a:rPr lang="en-US" sz="4950" spc="-25" kern="0" dirty="0">
                <a:solidFill>
                  <a:srgbClr val="201F1D"/>
                </a:solidFill>
                <a:latin typeface="Cormorant Garamond" pitchFamily="34" charset="0"/>
                <a:ea typeface="Cormorant Garamond" pitchFamily="34" charset="-122"/>
                <a:cs typeface="Cormorant Garamond" pitchFamily="34" charset="-120"/>
              </a:rPr>
              <a:t>“La médecine est ma femme légitime, la littérature ma maîtresse.”</a:t>
            </a:r>
            <a:endParaRPr lang="en-US" sz="4950" dirty="0"/>
          </a:p>
        </p:txBody>
      </p:sp>
      <p:sp>
        <p:nvSpPr>
          <p:cNvPr id="4" name="Text 2"/>
          <p:cNvSpPr/>
          <p:nvPr/>
        </p:nvSpPr>
        <p:spPr>
          <a:xfrm>
            <a:off x="1371515" y="5969726"/>
            <a:ext cx="17099347" cy="481006"/>
          </a:xfrm>
          <a:prstGeom prst="rect">
            <a:avLst/>
          </a:prstGeom>
          <a:noFill/>
          <a:ln/>
        </p:spPr>
        <p:txBody>
          <a:bodyPr wrap="square" lIns="25400" tIns="25400" rIns="25400" bIns="25400" rtlCol="0" anchor="t">
            <a:normAutofit/>
          </a:bodyPr>
          <a:lstStyle/>
          <a:p>
            <a:pPr algn="l" indent="0" marL="0">
              <a:lnSpc>
                <a:spcPct val="119855"/>
              </a:lnSpc>
              <a:buNone/>
            </a:pPr>
            <a:r>
              <a:rPr lang="en-US" sz="2250" dirty="0">
                <a:solidFill>
                  <a:srgbClr val="211F1D">
                    <a:alpha val="55000"/>
                  </a:srgbClr>
                </a:solidFill>
                <a:latin typeface="Lora" pitchFamily="34" charset="0"/>
                <a:ea typeface="Lora" pitchFamily="34" charset="-122"/>
                <a:cs typeface="Lora" pitchFamily="34" charset="-120"/>
              </a:rPr>
              <a:t>— à Souvorine, 11 septembre 1888</a:t>
            </a:r>
            <a:endParaRPr lang="en-US" sz="2250" dirty="0"/>
          </a:p>
        </p:txBody>
      </p:sp>
      <p:pic>
        <p:nvPicPr>
          <p:cNvPr id="5" name="Image 0" descr="preencoded.png">    </p:cNvPr>
          <p:cNvPicPr>
            <a:picLocks noChangeAspect="1"/>
          </p:cNvPicPr>
          <p:nvPr/>
        </p:nvPicPr>
        <p:blipFill>
          <a:blip r:embed="rId1"/>
          <a:stretch>
            <a:fillRect/>
          </a:stretch>
        </p:blipFill>
        <p:spPr>
          <a:xfrm>
            <a:off x="1371515" y="9745979"/>
            <a:ext cx="2443684" cy="1599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525"/>
        </a:solidFill>
      </p:bgPr>
    </p:bg>
    <p:spTree>
      <p:nvGrpSpPr>
        <p:cNvPr id="1" name=""/>
        <p:cNvGrpSpPr/>
        <p:nvPr/>
      </p:nvGrpSpPr>
      <p:grpSpPr>
        <a:xfrm>
          <a:off x="0" y="0"/>
          <a:ext cx="0" cy="0"/>
          <a:chOff x="0" y="0"/>
          <a:chExt cx="0" cy="0"/>
        </a:xfrm>
      </p:grpSpPr>
      <p:sp>
        <p:nvSpPr>
          <p:cNvPr id="2" name="Text 0"/>
          <p:cNvSpPr/>
          <p:nvPr/>
        </p:nvSpPr>
        <p:spPr>
          <a:xfrm>
            <a:off x="1251505" y="3440903"/>
            <a:ext cx="2992426" cy="2609833"/>
          </a:xfrm>
          <a:prstGeom prst="rect">
            <a:avLst/>
          </a:prstGeom>
          <a:noFill/>
          <a:ln/>
        </p:spPr>
        <p:txBody>
          <a:bodyPr wrap="square" lIns="25400" tIns="25400" rIns="25400" bIns="25400" rtlCol="0" anchor="t">
            <a:normAutofit/>
          </a:bodyPr>
          <a:lstStyle/>
          <a:p>
            <a:pPr algn="l" indent="0" marL="0">
              <a:lnSpc>
                <a:spcPct val="74408"/>
              </a:lnSpc>
              <a:buNone/>
            </a:pPr>
            <a:r>
              <a:rPr lang="en-US" sz="22500" spc="-337" kern="0" dirty="0">
                <a:solidFill>
                  <a:srgbClr val="B68235"/>
                </a:solidFill>
                <a:latin typeface="Cormorant Garamond" pitchFamily="34" charset="0"/>
                <a:ea typeface="Cormorant Garamond" pitchFamily="34" charset="-122"/>
                <a:cs typeface="Cormorant Garamond" pitchFamily="34" charset="-120"/>
              </a:rPr>
              <a:t>01</a:t>
            </a:r>
            <a:endParaRPr lang="en-US" sz="22500" dirty="0"/>
          </a:p>
        </p:txBody>
      </p:sp>
      <p:sp>
        <p:nvSpPr>
          <p:cNvPr id="3" name="Text 1"/>
          <p:cNvSpPr/>
          <p:nvPr/>
        </p:nvSpPr>
        <p:spPr>
          <a:xfrm>
            <a:off x="1341173" y="6507849"/>
            <a:ext cx="8140126"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F3F2F2"/>
                </a:solidFill>
                <a:latin typeface="Cormorant Garamond" pitchFamily="34" charset="0"/>
                <a:ea typeface="Cormorant Garamond" pitchFamily="34" charset="-122"/>
                <a:cs typeface="Cormorant Garamond" pitchFamily="34" charset="-120"/>
              </a:rPr>
              <a:t>L'homme derrière le regard</a:t>
            </a:r>
            <a:endParaRPr lang="en-US" sz="5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Trois héritages de Taganrog</a:t>
            </a:r>
            <a:endParaRPr lang="en-US" sz="5700" dirty="0"/>
          </a:p>
        </p:txBody>
      </p:sp>
      <p:sp>
        <p:nvSpPr>
          <p:cNvPr id="3" name="Text 1"/>
          <p:cNvSpPr/>
          <p:nvPr/>
        </p:nvSpPr>
        <p:spPr>
          <a:xfrm>
            <a:off x="1371515"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Le serf</a:t>
            </a:r>
            <a:endParaRPr lang="en-US" sz="3600" dirty="0"/>
          </a:p>
        </p:txBody>
      </p:sp>
      <p:sp>
        <p:nvSpPr>
          <p:cNvPr id="4" name="Text 2"/>
          <p:cNvSpPr/>
          <p:nvPr/>
        </p:nvSpPr>
        <p:spPr>
          <a:xfrm>
            <a:off x="1371515" y="3762327"/>
            <a:ext cx="4656860"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En 1841 son grand-père rachète la liberté de la famille, 700 roubles par tête. Tchekhov est le petit-fils d'un homme qui a acheté sa propre personne.</a:t>
            </a:r>
            <a:endParaRPr lang="en-US" sz="2250" dirty="0"/>
          </a:p>
        </p:txBody>
      </p:sp>
      <p:sp>
        <p:nvSpPr>
          <p:cNvPr id="5" name="Text 3"/>
          <p:cNvSpPr/>
          <p:nvPr/>
        </p:nvSpPr>
        <p:spPr>
          <a:xfrm>
            <a:off x="6883278"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L'épicerie</a:t>
            </a:r>
            <a:endParaRPr lang="en-US" sz="3600" dirty="0"/>
          </a:p>
        </p:txBody>
      </p:sp>
      <p:sp>
        <p:nvSpPr>
          <p:cNvPr id="6" name="Text 4"/>
          <p:cNvSpPr/>
          <p:nvPr/>
        </p:nvSpPr>
        <p:spPr>
          <a:xfrm>
            <a:off x="6883278" y="3762327"/>
            <a:ext cx="4656860"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Un père dévot et tyrannique, les coups, le chœur de l'église à l'aube, le comptoir ensuite. « Dans mon enfance, il n'y a pas eu d'enfance. »</a:t>
            </a:r>
            <a:endParaRPr lang="en-US" sz="2250" dirty="0"/>
          </a:p>
        </p:txBody>
      </p:sp>
      <p:sp>
        <p:nvSpPr>
          <p:cNvPr id="7" name="Text 5"/>
          <p:cNvSpPr/>
          <p:nvPr/>
        </p:nvSpPr>
        <p:spPr>
          <a:xfrm>
            <a:off x="12395039"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La faillite</a:t>
            </a:r>
            <a:endParaRPr lang="en-US" sz="3600" dirty="0"/>
          </a:p>
        </p:txBody>
      </p:sp>
      <p:sp>
        <p:nvSpPr>
          <p:cNvPr id="8" name="Text 6"/>
          <p:cNvSpPr/>
          <p:nvPr/>
        </p:nvSpPr>
        <p:spPr>
          <a:xfrm>
            <a:off x="12395039" y="3762327"/>
            <a:ext cx="4656860" cy="1724020"/>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1876 : la famille fuit à Moscou. Anton, seize ans, reste seul trois ans et envoie de l'argent. Il nourrira les siens toute sa vie.</a:t>
            </a:r>
            <a:endParaRPr lang="en-US" sz="2250" dirty="0"/>
          </a:p>
        </p:txBody>
      </p:sp>
      <p:pic>
        <p:nvPicPr>
          <p:cNvPr id="9" name="Image 0" descr="preencoded.png">    </p:cNvPr>
          <p:cNvPicPr>
            <a:picLocks noChangeAspect="1"/>
          </p:cNvPicPr>
          <p:nvPr/>
        </p:nvPicPr>
        <p:blipFill>
          <a:blip r:embed="rId1"/>
          <a:stretch>
            <a:fillRect/>
          </a:stretch>
        </p:blipFill>
        <p:spPr>
          <a:xfrm>
            <a:off x="1371515" y="9745979"/>
            <a:ext cx="2443684" cy="1599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0" y="0"/>
            <a:ext cx="9143889" cy="10286931"/>
          </a:xfrm>
          <a:prstGeom prst="rect">
            <a:avLst/>
          </a:prstGeom>
          <a:solidFill>
            <a:srgbClr val="7F7F7F">
              <a:alpha val="8000"/>
            </a:srgbClr>
          </a:solidFill>
          <a:ln/>
        </p:spPr>
      </p:sp>
      <p:pic>
        <p:nvPicPr>
          <p:cNvPr id="3" name="Image 0" descr="preencoded.png">    </p:cNvPr>
          <p:cNvPicPr>
            <a:picLocks noChangeAspect="1"/>
          </p:cNvPicPr>
          <p:nvPr/>
        </p:nvPicPr>
        <p:blipFill>
          <a:blip r:embed="rId1"/>
          <a:srcRect l="0" r="0" t="10273" b="10273"/>
          <a:stretch/>
        </p:blipFill>
        <p:spPr>
          <a:xfrm>
            <a:off x="0" y="0"/>
            <a:ext cx="9143889" cy="10286931"/>
          </a:xfrm>
          <a:prstGeom prst="rect">
            <a:avLst/>
          </a:prstGeom>
        </p:spPr>
      </p:pic>
      <p:sp>
        <p:nvSpPr>
          <p:cNvPr id="4" name="Text 1"/>
          <p:cNvSpPr/>
          <p:nvPr/>
        </p:nvSpPr>
        <p:spPr>
          <a:xfrm>
            <a:off x="10485062" y="1528774"/>
            <a:ext cx="6278842" cy="1233449"/>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Le médecin de Melikhovo</a:t>
            </a:r>
            <a:endParaRPr lang="en-US" sz="5700" dirty="0"/>
          </a:p>
        </p:txBody>
      </p:sp>
      <p:sp>
        <p:nvSpPr>
          <p:cNvPr id="5" name="Text 2"/>
          <p:cNvSpPr/>
          <p:nvPr/>
        </p:nvSpPr>
        <p:spPr>
          <a:xfrm>
            <a:off x="10315380" y="4009933"/>
            <a:ext cx="6372188" cy="5191076"/>
          </a:xfrm>
          <a:prstGeom prst="rect">
            <a:avLst/>
          </a:prstGeom>
          <a:noFill/>
          <a:ln/>
        </p:spPr>
        <p:txBody>
          <a:bodyPr wrap="square" lIns="25400" tIns="25400" rIns="25400" bIns="25400" rtlCol="0" anchor="t">
            <a:normAutofit/>
          </a:bodyPr>
          <a:lstStyle/>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Diplômé en 1884, il exerce vraiment : paysans soignés gratuitement, choléra, trois écoles construites</a:t>
            </a:r>
            <a:endParaRPr lang="en-US" sz="2250" dirty="0"/>
          </a:p>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La misère vue de près, sans le romantisme des intellectuels qui parlaient du peuple sans le fréquenter</a:t>
            </a:r>
            <a:endParaRPr lang="en-US" sz="2250" dirty="0"/>
          </a:p>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Sa méthode d'écrivain : « L'artiste ne doit pas être le juge de ses personnages, mais seulement un témoin impartial. »</a:t>
            </a:r>
            <a:endParaRPr lang="en-US" sz="2250" dirty="0"/>
          </a:p>
        </p:txBody>
      </p:sp>
      <p:pic>
        <p:nvPicPr>
          <p:cNvPr id="6" name="Image 1" descr="preencoded.png">    </p:cNvPr>
          <p:cNvPicPr>
            <a:picLocks noChangeAspect="1"/>
          </p:cNvPicPr>
          <p:nvPr/>
        </p:nvPicPr>
        <p:blipFill>
          <a:blip r:embed="rId2"/>
          <a:stretch>
            <a:fillRect/>
          </a:stretch>
        </p:blipFill>
        <p:spPr>
          <a:xfrm>
            <a:off x="10515517" y="9745979"/>
            <a:ext cx="2443684" cy="1599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71515" y="830563"/>
            <a:ext cx="17099347" cy="198076"/>
          </a:xfrm>
          <a:prstGeom prst="rect">
            <a:avLst/>
          </a:prstGeom>
          <a:noFill/>
          <a:ln/>
        </p:spPr>
        <p:txBody>
          <a:bodyPr wrap="none" lIns="25400" tIns="25400" rIns="25400" bIns="25400" rtlCol="0" anchor="t">
            <a:normAutofit/>
          </a:bodyPr>
          <a:lstStyle/>
          <a:p>
            <a:pPr algn="l" indent="0" marL="0">
              <a:lnSpc>
                <a:spcPct val="119270"/>
              </a:lnSpc>
              <a:buNone/>
            </a:pPr>
            <a:r>
              <a:rPr lang="en-US" sz="1800" spc="144" kern="0" dirty="0">
                <a:solidFill>
                  <a:srgbClr val="B68235"/>
                </a:solidFill>
                <a:latin typeface="Lora" pitchFamily="34" charset="0"/>
                <a:ea typeface="Lora" pitchFamily="34" charset="-122"/>
                <a:cs typeface="Lora" pitchFamily="34" charset="-120"/>
              </a:rPr>
              <a:t>01 · L'HOMME DERRIÈRE LE REGARD</a:t>
            </a:r>
            <a:endParaRPr lang="en-US" sz="1800" dirty="0"/>
          </a:p>
        </p:txBody>
      </p:sp>
      <p:sp>
        <p:nvSpPr>
          <p:cNvPr id="3" name="Text 1"/>
          <p:cNvSpPr/>
          <p:nvPr/>
        </p:nvSpPr>
        <p:spPr>
          <a:xfrm>
            <a:off x="1259543" y="3171785"/>
            <a:ext cx="17222516" cy="2705049"/>
          </a:xfrm>
          <a:prstGeom prst="rect">
            <a:avLst/>
          </a:prstGeom>
          <a:noFill/>
          <a:ln/>
        </p:spPr>
        <p:txBody>
          <a:bodyPr wrap="square" lIns="25400" tIns="25400" rIns="25400" bIns="25400" rtlCol="0" anchor="t">
            <a:normAutofit/>
          </a:bodyPr>
          <a:lstStyle/>
          <a:p>
            <a:pPr algn="l" indent="0" marL="0">
              <a:lnSpc>
                <a:spcPct val="82527"/>
              </a:lnSpc>
              <a:buNone/>
            </a:pPr>
            <a:r>
              <a:rPr lang="en-US" sz="21000" spc="-420" kern="0" dirty="0">
                <a:solidFill>
                  <a:srgbClr val="B68235"/>
                </a:solidFill>
                <a:latin typeface="Cormorant Garamond" pitchFamily="34" charset="0"/>
                <a:ea typeface="Cormorant Garamond" pitchFamily="34" charset="-122"/>
                <a:cs typeface="Cormorant Garamond" pitchFamily="34" charset="-120"/>
              </a:rPr>
              <a:t>10 000</a:t>
            </a:r>
            <a:endParaRPr lang="en-US" sz="21000" dirty="0"/>
          </a:p>
        </p:txBody>
      </p:sp>
      <p:sp>
        <p:nvSpPr>
          <p:cNvPr id="4" name="Text 2"/>
          <p:cNvSpPr/>
          <p:nvPr/>
        </p:nvSpPr>
        <p:spPr>
          <a:xfrm>
            <a:off x="1371515" y="6238731"/>
            <a:ext cx="9137282" cy="1028752"/>
          </a:xfrm>
          <a:prstGeom prst="rect">
            <a:avLst/>
          </a:prstGeom>
          <a:noFill/>
          <a:ln/>
        </p:spPr>
        <p:txBody>
          <a:bodyPr wrap="square" lIns="25400" tIns="25400" rIns="25400" bIns="25400" rtlCol="0" anchor="t">
            <a:normAutofit/>
          </a:bodyPr>
          <a:lstStyle/>
          <a:p>
            <a:pPr algn="l" indent="0" marL="0">
              <a:lnSpc>
                <a:spcPct val="134031"/>
              </a:lnSpc>
              <a:buNone/>
            </a:pPr>
            <a:r>
              <a:rPr lang="en-US" sz="2250" dirty="0">
                <a:solidFill>
                  <a:srgbClr val="211F1D">
                    <a:alpha val="55000"/>
                  </a:srgbClr>
                </a:solidFill>
                <a:latin typeface="Lora" pitchFamily="34" charset="0"/>
                <a:ea typeface="Lora" pitchFamily="34" charset="-122"/>
                <a:cs typeface="Lora" pitchFamily="34" charset="-120"/>
              </a:rPr>
              <a:t>Fiches remplies à la main sur l'île-bagne de Sakhaline, en 1890, après trois mois de Sibérie. Personne ne lui avait rien demandé.</a:t>
            </a:r>
            <a:endParaRPr lang="en-US" sz="2250" dirty="0"/>
          </a:p>
        </p:txBody>
      </p:sp>
      <p:pic>
        <p:nvPicPr>
          <p:cNvPr id="5" name="Image 0" descr="preencoded.png">    </p:cNvPr>
          <p:cNvPicPr>
            <a:picLocks noChangeAspect="1"/>
          </p:cNvPicPr>
          <p:nvPr/>
        </p:nvPicPr>
        <p:blipFill>
          <a:blip r:embed="rId1"/>
          <a:stretch>
            <a:fillRect/>
          </a:stretch>
        </p:blipFill>
        <p:spPr>
          <a:xfrm>
            <a:off x="1371515" y="9745979"/>
            <a:ext cx="2443684" cy="1599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La mort annoncée</a:t>
            </a:r>
            <a:endParaRPr lang="en-US" sz="5700" dirty="0"/>
          </a:p>
        </p:txBody>
      </p:sp>
      <p:sp>
        <p:nvSpPr>
          <p:cNvPr id="3" name="Text 1"/>
          <p:cNvSpPr/>
          <p:nvPr/>
        </p:nvSpPr>
        <p:spPr>
          <a:xfrm>
            <a:off x="1131485" y="3722361"/>
            <a:ext cx="12698702" cy="4240390"/>
          </a:xfrm>
          <a:prstGeom prst="rect">
            <a:avLst/>
          </a:prstGeom>
          <a:noFill/>
          <a:ln/>
        </p:spPr>
        <p:txBody>
          <a:bodyPr wrap="square" lIns="25400" tIns="25400" rIns="25400" bIns="25400" rtlCol="0" anchor="t">
            <a:normAutofit/>
          </a:bodyPr>
          <a:lstStyle/>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Décembre 1884 : première hémoptysie, à vingt-quatre ans. Médecin, il sait — et refuse treize ans de dire le mot</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1889 : son frère Nikolaï meurt de la tuberculose sous ses yeux</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Mars 1897 : l'hémorragie qui ne laisse plus le choix. Il lui reste sept ans</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Toute son œuvre de maturité est écrite par un homme qui sait qu'il n'aura pas le temps</a:t>
            </a:r>
            <a:endParaRPr lang="en-US" sz="2700" dirty="0"/>
          </a:p>
        </p:txBody>
      </p:sp>
      <p:pic>
        <p:nvPicPr>
          <p:cNvPr id="4" name="Image 0" descr="preencoded.png">    </p:cNvPr>
          <p:cNvPicPr>
            <a:picLocks noChangeAspect="1"/>
          </p:cNvPicPr>
          <p:nvPr/>
        </p:nvPicPr>
        <p:blipFill>
          <a:blip r:embed="rId1"/>
          <a:stretch>
            <a:fillRect/>
          </a:stretch>
        </p:blipFill>
        <p:spPr>
          <a:xfrm>
            <a:off x="1371515" y="9745979"/>
            <a:ext cx="2443684" cy="159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525"/>
        </a:solidFill>
      </p:bgPr>
    </p:bg>
    <p:spTree>
      <p:nvGrpSpPr>
        <p:cNvPr id="1" name=""/>
        <p:cNvGrpSpPr/>
        <p:nvPr/>
      </p:nvGrpSpPr>
      <p:grpSpPr>
        <a:xfrm>
          <a:off x="0" y="0"/>
          <a:ext cx="0" cy="0"/>
          <a:chOff x="0" y="0"/>
          <a:chExt cx="0" cy="0"/>
        </a:xfrm>
      </p:grpSpPr>
      <p:sp>
        <p:nvSpPr>
          <p:cNvPr id="2" name="Text 0"/>
          <p:cNvSpPr/>
          <p:nvPr/>
        </p:nvSpPr>
        <p:spPr>
          <a:xfrm>
            <a:off x="1251505" y="3440903"/>
            <a:ext cx="2992426" cy="2609833"/>
          </a:xfrm>
          <a:prstGeom prst="rect">
            <a:avLst/>
          </a:prstGeom>
          <a:noFill/>
          <a:ln/>
        </p:spPr>
        <p:txBody>
          <a:bodyPr wrap="square" lIns="25400" tIns="25400" rIns="25400" bIns="25400" rtlCol="0" anchor="t">
            <a:normAutofit/>
          </a:bodyPr>
          <a:lstStyle/>
          <a:p>
            <a:pPr algn="l" indent="0" marL="0">
              <a:lnSpc>
                <a:spcPct val="74408"/>
              </a:lnSpc>
              <a:buNone/>
            </a:pPr>
            <a:r>
              <a:rPr lang="en-US" sz="22500" spc="-337" kern="0" dirty="0">
                <a:solidFill>
                  <a:srgbClr val="B68235"/>
                </a:solidFill>
                <a:latin typeface="Cormorant Garamond" pitchFamily="34" charset="0"/>
                <a:ea typeface="Cormorant Garamond" pitchFamily="34" charset="-122"/>
                <a:cs typeface="Cormorant Garamond" pitchFamily="34" charset="-120"/>
              </a:rPr>
              <a:t>02</a:t>
            </a:r>
            <a:endParaRPr lang="en-US" sz="22500" dirty="0"/>
          </a:p>
        </p:txBody>
      </p:sp>
      <p:sp>
        <p:nvSpPr>
          <p:cNvPr id="3" name="Text 1"/>
          <p:cNvSpPr/>
          <p:nvPr/>
        </p:nvSpPr>
        <p:spPr>
          <a:xfrm>
            <a:off x="1341173" y="6507849"/>
            <a:ext cx="7026497"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F3F2F2"/>
                </a:solidFill>
                <a:latin typeface="Cormorant Garamond" pitchFamily="34" charset="0"/>
                <a:ea typeface="Cormorant Garamond" pitchFamily="34" charset="-122"/>
                <a:cs typeface="Cormorant Garamond" pitchFamily="34" charset="-120"/>
              </a:rPr>
              <a:t>Une société qui bascule</a:t>
            </a:r>
            <a:endParaRPr lang="en-US" sz="5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La Russie d'après le servage</a:t>
            </a:r>
            <a:endParaRPr lang="en-US" sz="5700" dirty="0"/>
          </a:p>
        </p:txBody>
      </p:sp>
      <p:sp>
        <p:nvSpPr>
          <p:cNvPr id="3" name="Text 1"/>
          <p:cNvSpPr/>
          <p:nvPr/>
        </p:nvSpPr>
        <p:spPr>
          <a:xfrm>
            <a:off x="1371515"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La noblesse</a:t>
            </a:r>
            <a:endParaRPr lang="en-US" sz="3600" dirty="0"/>
          </a:p>
        </p:txBody>
      </p:sp>
      <p:sp>
        <p:nvSpPr>
          <p:cNvPr id="4" name="Text 2"/>
          <p:cNvSpPr/>
          <p:nvPr/>
        </p:nvSpPr>
        <p:spPr>
          <a:xfrm>
            <a:off x="1371515" y="3762327"/>
            <a:ext cx="4656860" cy="1228694"/>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Ruinée, elle vit dans le souvenir et ne comprend pas qu'il faut vendre.</a:t>
            </a:r>
            <a:endParaRPr lang="en-US" sz="2250" dirty="0"/>
          </a:p>
        </p:txBody>
      </p:sp>
      <p:sp>
        <p:nvSpPr>
          <p:cNvPr id="5" name="Text 3"/>
          <p:cNvSpPr/>
          <p:nvPr/>
        </p:nvSpPr>
        <p:spPr>
          <a:xfrm>
            <a:off x="6883278"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Les marchands</a:t>
            </a:r>
            <a:endParaRPr lang="en-US" sz="3600" dirty="0"/>
          </a:p>
        </p:txBody>
      </p:sp>
      <p:sp>
        <p:nvSpPr>
          <p:cNvPr id="6" name="Text 4"/>
          <p:cNvSpPr/>
          <p:nvPr/>
        </p:nvSpPr>
        <p:spPr>
          <a:xfrm>
            <a:off x="6883278" y="3762327"/>
            <a:ext cx="4656860"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Souvent d'anciens serfs, ils achètent les domaines aux enchères. Ce ne sont pas des méchants : c'est l'histoire qui passe.</a:t>
            </a:r>
            <a:endParaRPr lang="en-US" sz="2250" dirty="0"/>
          </a:p>
        </p:txBody>
      </p:sp>
      <p:sp>
        <p:nvSpPr>
          <p:cNvPr id="7" name="Text 5"/>
          <p:cNvSpPr/>
          <p:nvPr/>
        </p:nvSpPr>
        <p:spPr>
          <a:xfrm>
            <a:off x="12395039" y="3181295"/>
            <a:ext cx="4973345"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Les paysans</a:t>
            </a:r>
            <a:endParaRPr lang="en-US" sz="3600" dirty="0"/>
          </a:p>
        </p:txBody>
      </p:sp>
      <p:sp>
        <p:nvSpPr>
          <p:cNvPr id="8" name="Text 6"/>
          <p:cNvSpPr/>
          <p:nvPr/>
        </p:nvSpPr>
        <p:spPr>
          <a:xfrm>
            <a:off x="12395039" y="3762327"/>
            <a:ext cx="4656860" cy="1724020"/>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Libres depuis 1861, sur le papier. Les Moujiks et Dans le ravin montrent la saleté, l'alcool, la violence — sans complaisance.</a:t>
            </a:r>
            <a:endParaRPr lang="en-US" sz="2250" dirty="0"/>
          </a:p>
        </p:txBody>
      </p:sp>
      <p:pic>
        <p:nvPicPr>
          <p:cNvPr id="9"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9144002" y="0"/>
            <a:ext cx="9143889" cy="10286931"/>
          </a:xfrm>
          <a:prstGeom prst="rect">
            <a:avLst/>
          </a:prstGeom>
          <a:solidFill>
            <a:srgbClr val="7F7F7F">
              <a:alpha val="8000"/>
            </a:srgbClr>
          </a:solidFill>
          <a:ln/>
        </p:spPr>
      </p:sp>
      <p:pic>
        <p:nvPicPr>
          <p:cNvPr id="3" name="Image 0" descr="preencoded.png">    </p:cNvPr>
          <p:cNvPicPr>
            <a:picLocks noChangeAspect="1"/>
          </p:cNvPicPr>
          <p:nvPr/>
        </p:nvPicPr>
        <p:blipFill>
          <a:blip r:embed="rId1"/>
          <a:srcRect l="15538" r="15538" t="0" b="0"/>
          <a:stretch/>
        </p:blipFill>
        <p:spPr>
          <a:xfrm>
            <a:off x="9144002" y="0"/>
            <a:ext cx="9143889" cy="10286931"/>
          </a:xfrm>
          <a:prstGeom prst="rect">
            <a:avLst/>
          </a:prstGeom>
        </p:spPr>
      </p:pic>
      <p:sp>
        <p:nvSpPr>
          <p:cNvPr id="4" name="Text 1"/>
          <p:cNvSpPr/>
          <p:nvPr/>
        </p:nvSpPr>
        <p:spPr>
          <a:xfrm>
            <a:off x="1341173" y="1528774"/>
            <a:ext cx="6278842" cy="1233449"/>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La Cerisaie, ou l'histoire qui passe</a:t>
            </a:r>
            <a:endParaRPr lang="en-US" sz="5700" dirty="0"/>
          </a:p>
        </p:txBody>
      </p:sp>
      <p:sp>
        <p:nvSpPr>
          <p:cNvPr id="5" name="Text 2"/>
          <p:cNvSpPr/>
          <p:nvPr/>
        </p:nvSpPr>
        <p:spPr>
          <a:xfrm>
            <a:off x="1171490" y="4009933"/>
            <a:ext cx="6372188" cy="4695750"/>
          </a:xfrm>
          <a:prstGeom prst="rect">
            <a:avLst/>
          </a:prstGeom>
          <a:noFill/>
          <a:ln/>
        </p:spPr>
        <p:txBody>
          <a:bodyPr wrap="square" lIns="25400" tIns="25400" rIns="25400" bIns="25400" rtlCol="0" anchor="t">
            <a:normAutofit/>
          </a:bodyPr>
          <a:lstStyle/>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Lioubov ne comprend pas qu'elle doit vendre ; Lopakhine, petit-fils de serf du domaine, l'achète</a:t>
            </a:r>
            <a:endParaRPr lang="en-US" sz="2250" dirty="0"/>
          </a:p>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Tchekhov a été Lopakhine : en 1892 il achète Melikhovo sans l'avoir vu et écrit « Je veux être duc »</a:t>
            </a:r>
            <a:endParaRPr lang="en-US" sz="2250" dirty="0"/>
          </a:p>
          <a:p>
            <a:pPr algn="l" indent="0" marL="0">
              <a:lnSpc>
                <a:spcPct val="134031"/>
              </a:lnSpc>
              <a:buNone/>
            </a:pPr>
            <a:r>
              <a:rPr lang="en-US" sz="2250" dirty="0">
                <a:solidFill>
                  <a:srgbClr val="201F1D"/>
                </a:solidFill>
                <a:latin typeface="Lora" pitchFamily="34" charset="0"/>
                <a:ea typeface="Lora" pitchFamily="34" charset="-122"/>
                <a:cs typeface="Lora" pitchFamily="34" charset="-120"/>
              </a:rPr>
              <a:t>Aucun méchant sur le plateau, aucun verdict — un constat</a:t>
            </a:r>
            <a:endParaRPr lang="en-US" sz="2250" dirty="0"/>
          </a:p>
        </p:txBody>
      </p:sp>
      <p:pic>
        <p:nvPicPr>
          <p:cNvPr id="6" name="Image 1" descr="preencoded.png">    </p:cNvPr>
          <p:cNvPicPr>
            <a:picLocks noChangeAspect="1"/>
          </p:cNvPicPr>
          <p:nvPr/>
        </p:nvPicPr>
        <p:blipFill>
          <a:blip r:embed="rId2"/>
          <a:stretch>
            <a:fillRect/>
          </a:stretch>
        </p:blipFill>
        <p:spPr>
          <a:xfrm>
            <a:off x="1371515" y="9745979"/>
            <a:ext cx="2592225" cy="1599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L'intelligentsia qui parle et n'agit pas</a:t>
            </a:r>
            <a:endParaRPr lang="en-US" sz="5700" dirty="0"/>
          </a:p>
        </p:txBody>
      </p:sp>
      <p:sp>
        <p:nvSpPr>
          <p:cNvPr id="3" name="Text 1"/>
          <p:cNvSpPr/>
          <p:nvPr/>
        </p:nvSpPr>
        <p:spPr>
          <a:xfrm>
            <a:off x="1131485" y="3722361"/>
            <a:ext cx="12698702" cy="3745064"/>
          </a:xfrm>
          <a:prstGeom prst="rect">
            <a:avLst/>
          </a:prstGeom>
          <a:noFill/>
          <a:ln/>
        </p:spPr>
        <p:txBody>
          <a:bodyPr wrap="square" lIns="25400" tIns="25400" rIns="25400" bIns="25400" rtlCol="0" anchor="t">
            <a:normAutofit/>
          </a:bodyPr>
          <a:lstStyle/>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 À Moscou ! » pendant quatre actes — et les trois sœurs ne partent jamais</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Vania découvre à quarante-sept ans qu'il a sacrifié sa vie à un professeur médiocre</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Trofimov, l'éternel étudiant, parle de l'avenir et ne finit pas ses études</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Face à eux, toujours un travailleur : Astrov, Lopakhine, Sonia</a:t>
            </a:r>
            <a:endParaRPr lang="en-US" sz="2700" dirty="0"/>
          </a:p>
        </p:txBody>
      </p:sp>
      <p:pic>
        <p:nvPicPr>
          <p:cNvPr id="4"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Les institutions comme prisons</a:t>
            </a:r>
            <a:endParaRPr lang="en-US" sz="5700" dirty="0"/>
          </a:p>
        </p:txBody>
      </p:sp>
      <p:sp>
        <p:nvSpPr>
          <p:cNvPr id="3" name="Text 1"/>
          <p:cNvSpPr/>
          <p:nvPr/>
        </p:nvSpPr>
        <p:spPr>
          <a:xfrm>
            <a:off x="1371515" y="3181295"/>
            <a:ext cx="8004877"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La Salle n° 6 (1892)</a:t>
            </a:r>
            <a:endParaRPr lang="en-US" sz="3600" dirty="0"/>
          </a:p>
        </p:txBody>
      </p:sp>
      <p:sp>
        <p:nvSpPr>
          <p:cNvPr id="4" name="Text 2"/>
          <p:cNvSpPr/>
          <p:nvPr/>
        </p:nvSpPr>
        <p:spPr>
          <a:xfrm>
            <a:off x="1371515" y="3762327"/>
            <a:ext cx="7495475"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Un médecin discute avec un aliéné plus intelligent que tous les gens sains de la ville, et finit enfermé à sa place. Sans un mot sur le tsar, la société entière devient un asile où la pensée est un danger. Lénine a dit s'être senti, en le lisant, enfermé lui aussi.</a:t>
            </a:r>
            <a:endParaRPr lang="en-US" sz="2250" dirty="0"/>
          </a:p>
        </p:txBody>
      </p:sp>
      <p:sp>
        <p:nvSpPr>
          <p:cNvPr id="5" name="Text 3"/>
          <p:cNvSpPr/>
          <p:nvPr/>
        </p:nvSpPr>
        <p:spPr>
          <a:xfrm>
            <a:off x="9639215" y="3181295"/>
            <a:ext cx="8004877"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L'Homme à l'étui (1898)</a:t>
            </a:r>
            <a:endParaRPr lang="en-US" sz="3600" dirty="0"/>
          </a:p>
        </p:txBody>
      </p:sp>
      <p:sp>
        <p:nvSpPr>
          <p:cNvPr id="6" name="Text 4"/>
          <p:cNvSpPr/>
          <p:nvPr/>
        </p:nvSpPr>
        <p:spPr>
          <a:xfrm>
            <a:off x="9639215" y="3762327"/>
            <a:ext cx="7495475"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L'inverse : un professeur de grec vit enclos dans ses caoutchoucs, son parapluie et ses règlements, et terrorise toute une ville par sa seule peur. C'est la servilité — l'esclave que l'on n'a pas su presser hors de soi.</a:t>
            </a:r>
            <a:endParaRPr lang="en-US" sz="2250" dirty="0"/>
          </a:p>
        </p:txBody>
      </p:sp>
      <p:pic>
        <p:nvPicPr>
          <p:cNvPr id="7"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Un engagement sans idéologie</a:t>
            </a:r>
            <a:endParaRPr lang="en-US" sz="5700" dirty="0"/>
          </a:p>
        </p:txBody>
      </p:sp>
      <p:sp>
        <p:nvSpPr>
          <p:cNvPr id="3" name="Text 1"/>
          <p:cNvSpPr/>
          <p:nvPr/>
        </p:nvSpPr>
        <p:spPr>
          <a:xfrm>
            <a:off x="1131485" y="3722361"/>
            <a:ext cx="12698702" cy="4240389"/>
          </a:xfrm>
          <a:prstGeom prst="rect">
            <a:avLst/>
          </a:prstGeom>
          <a:noFill/>
          <a:ln/>
        </p:spPr>
        <p:txBody>
          <a:bodyPr wrap="square" lIns="25400" tIns="25400" rIns="25400" bIns="25400" rtlCol="0" anchor="t">
            <a:normAutofit/>
          </a:bodyPr>
          <a:lstStyle/>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 Je ne suis ni libéral, ni conservateur, ni progressiste... Je voudrais être un artiste libre et rien de plus. »</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1898 : il prend le parti de Zola dans l'affaire Dreyfus et se brouille avec Souvorine</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1902 : il démissionne de l'Académie quand le tsar annule l'élection de Gorki</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Il s'engage sur des faits, jamais sur des programmes</a:t>
            </a:r>
            <a:endParaRPr lang="en-US" sz="2700" dirty="0"/>
          </a:p>
        </p:txBody>
      </p:sp>
      <p:pic>
        <p:nvPicPr>
          <p:cNvPr id="4"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525"/>
        </a:solidFill>
      </p:bgPr>
    </p:bg>
    <p:spTree>
      <p:nvGrpSpPr>
        <p:cNvPr id="1" name=""/>
        <p:cNvGrpSpPr/>
        <p:nvPr/>
      </p:nvGrpSpPr>
      <p:grpSpPr>
        <a:xfrm>
          <a:off x="0" y="0"/>
          <a:ext cx="0" cy="0"/>
          <a:chOff x="0" y="0"/>
          <a:chExt cx="0" cy="0"/>
        </a:xfrm>
      </p:grpSpPr>
      <p:sp>
        <p:nvSpPr>
          <p:cNvPr id="2" name="Text 0"/>
          <p:cNvSpPr/>
          <p:nvPr/>
        </p:nvSpPr>
        <p:spPr>
          <a:xfrm>
            <a:off x="1251505" y="3440903"/>
            <a:ext cx="2992426" cy="2609833"/>
          </a:xfrm>
          <a:prstGeom prst="rect">
            <a:avLst/>
          </a:prstGeom>
          <a:noFill/>
          <a:ln/>
        </p:spPr>
        <p:txBody>
          <a:bodyPr wrap="square" lIns="25400" tIns="25400" rIns="25400" bIns="25400" rtlCol="0" anchor="t">
            <a:normAutofit/>
          </a:bodyPr>
          <a:lstStyle/>
          <a:p>
            <a:pPr algn="l" indent="0" marL="0">
              <a:lnSpc>
                <a:spcPct val="74408"/>
              </a:lnSpc>
              <a:buNone/>
            </a:pPr>
            <a:r>
              <a:rPr lang="en-US" sz="22500" spc="-337" kern="0" dirty="0">
                <a:solidFill>
                  <a:srgbClr val="B68235"/>
                </a:solidFill>
                <a:latin typeface="Cormorant Garamond" pitchFamily="34" charset="0"/>
                <a:ea typeface="Cormorant Garamond" pitchFamily="34" charset="-122"/>
                <a:cs typeface="Cormorant Garamond" pitchFamily="34" charset="-120"/>
              </a:rPr>
              <a:t>03</a:t>
            </a:r>
            <a:endParaRPr lang="en-US" sz="22500" dirty="0"/>
          </a:p>
        </p:txBody>
      </p:sp>
      <p:sp>
        <p:nvSpPr>
          <p:cNvPr id="3" name="Text 1"/>
          <p:cNvSpPr/>
          <p:nvPr/>
        </p:nvSpPr>
        <p:spPr>
          <a:xfrm>
            <a:off x="1341173" y="6507849"/>
            <a:ext cx="5902656"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F3F2F2"/>
                </a:solidFill>
                <a:latin typeface="Cormorant Garamond" pitchFamily="34" charset="0"/>
                <a:ea typeface="Cormorant Garamond" pitchFamily="34" charset="-122"/>
                <a:cs typeface="Cormorant Garamond" pitchFamily="34" charset="-120"/>
              </a:rPr>
              <a:t>L'intérieur des êtres</a:t>
            </a:r>
            <a:endParaRPr lang="en-US" sz="5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71515" y="830563"/>
            <a:ext cx="17099347" cy="198076"/>
          </a:xfrm>
          <a:prstGeom prst="rect">
            <a:avLst/>
          </a:prstGeom>
          <a:noFill/>
          <a:ln/>
        </p:spPr>
        <p:txBody>
          <a:bodyPr wrap="none" lIns="25400" tIns="25400" rIns="25400" bIns="25400" rtlCol="0" anchor="t">
            <a:normAutofit/>
          </a:bodyPr>
          <a:lstStyle/>
          <a:p>
            <a:pPr algn="l" indent="0" marL="0">
              <a:lnSpc>
                <a:spcPct val="119270"/>
              </a:lnSpc>
              <a:buNone/>
            </a:pPr>
            <a:r>
              <a:rPr lang="en-US" sz="1800" spc="144" kern="0" dirty="0">
                <a:solidFill>
                  <a:srgbClr val="B68235"/>
                </a:solidFill>
                <a:latin typeface="Lora" pitchFamily="34" charset="0"/>
                <a:ea typeface="Lora" pitchFamily="34" charset="-122"/>
                <a:cs typeface="Lora" pitchFamily="34" charset="-120"/>
              </a:rPr>
              <a:t>03 · L'INTÉRIEUR DES ÊTRES</a:t>
            </a:r>
            <a:endParaRPr lang="en-US" sz="1800" dirty="0"/>
          </a:p>
        </p:txBody>
      </p:sp>
      <p:sp>
        <p:nvSpPr>
          <p:cNvPr id="3" name="Text 1"/>
          <p:cNvSpPr/>
          <p:nvPr/>
        </p:nvSpPr>
        <p:spPr>
          <a:xfrm>
            <a:off x="1371515" y="3617182"/>
            <a:ext cx="9264858" cy="2266897"/>
          </a:xfrm>
          <a:prstGeom prst="rect">
            <a:avLst/>
          </a:prstGeom>
          <a:noFill/>
          <a:ln/>
        </p:spPr>
        <p:txBody>
          <a:bodyPr wrap="square" lIns="25400" tIns="25400" rIns="25400" bIns="25400" rtlCol="0" anchor="t">
            <a:normAutofit/>
          </a:bodyPr>
          <a:lstStyle/>
          <a:p>
            <a:pPr algn="l" indent="0" marL="0">
              <a:lnSpc>
                <a:spcPct val="97651"/>
              </a:lnSpc>
              <a:buNone/>
            </a:pPr>
            <a:r>
              <a:rPr lang="en-US" sz="4950" spc="-25" kern="0" dirty="0">
                <a:solidFill>
                  <a:srgbClr val="201F1D"/>
                </a:solidFill>
                <a:latin typeface="Cormorant Garamond" pitchFamily="34" charset="0"/>
                <a:ea typeface="Cormorant Garamond" pitchFamily="34" charset="-122"/>
                <a:cs typeface="Cormorant Garamond" pitchFamily="34" charset="-120"/>
              </a:rPr>
              <a:t>“Les gens dînent, ils ne font que dîner, et pendant ce temps leur bonheur se fait ou leur vie se casse.”</a:t>
            </a:r>
            <a:endParaRPr lang="en-US" sz="4950" dirty="0"/>
          </a:p>
        </p:txBody>
      </p:sp>
      <p:sp>
        <p:nvSpPr>
          <p:cNvPr id="4" name="Text 2"/>
          <p:cNvSpPr/>
          <p:nvPr/>
        </p:nvSpPr>
        <p:spPr>
          <a:xfrm>
            <a:off x="1371515" y="6341193"/>
            <a:ext cx="17099347" cy="481006"/>
          </a:xfrm>
          <a:prstGeom prst="rect">
            <a:avLst/>
          </a:prstGeom>
          <a:noFill/>
          <a:ln/>
        </p:spPr>
        <p:txBody>
          <a:bodyPr wrap="square" lIns="25400" tIns="25400" rIns="25400" bIns="25400" rtlCol="0" anchor="t">
            <a:normAutofit/>
          </a:bodyPr>
          <a:lstStyle/>
          <a:p>
            <a:pPr algn="l" indent="0" marL="0">
              <a:lnSpc>
                <a:spcPct val="119855"/>
              </a:lnSpc>
              <a:buNone/>
            </a:pPr>
            <a:r>
              <a:rPr lang="en-US" sz="2250" dirty="0">
                <a:solidFill>
                  <a:srgbClr val="211F1D">
                    <a:alpha val="55000"/>
                  </a:srgbClr>
                </a:solidFill>
                <a:latin typeface="Lora" pitchFamily="34" charset="0"/>
                <a:ea typeface="Lora" pitchFamily="34" charset="-122"/>
                <a:cs typeface="Lora" pitchFamily="34" charset="-120"/>
              </a:rPr>
              <a:t>— propos rapporté par I. Gourliand, 1904</a:t>
            </a:r>
            <a:endParaRPr lang="en-US" sz="2250" dirty="0"/>
          </a:p>
        </p:txBody>
      </p:sp>
      <p:pic>
        <p:nvPicPr>
          <p:cNvPr id="5"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La vie ratée et la </a:t>
            </a:r>
            <a:pPr algn="l" indent="0" marL="0">
              <a:lnSpc>
                <a:spcPct val="84739"/>
              </a:lnSpc>
              <a:buNone/>
            </a:pPr>
            <a:r>
              <a:rPr lang="en-US" sz="5700" i="1" spc="-57" kern="0" dirty="0">
                <a:solidFill>
                  <a:srgbClr val="201F1D"/>
                </a:solidFill>
                <a:latin typeface="Cormorant Garamond" pitchFamily="34" charset="0"/>
                <a:ea typeface="Cormorant Garamond" pitchFamily="34" charset="-122"/>
                <a:cs typeface="Cormorant Garamond" pitchFamily="34" charset="-120"/>
              </a:rPr>
              <a:t>pochlost'</a:t>
            </a:r>
            <a:endParaRPr lang="en-US" sz="5700" dirty="0"/>
          </a:p>
        </p:txBody>
      </p:sp>
      <p:sp>
        <p:nvSpPr>
          <p:cNvPr id="3" name="Text 1"/>
          <p:cNvSpPr/>
          <p:nvPr/>
        </p:nvSpPr>
        <p:spPr>
          <a:xfrm>
            <a:off x="1371515" y="3181295"/>
            <a:ext cx="8004877"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Un mot intraduisible</a:t>
            </a:r>
            <a:endParaRPr lang="en-US" sz="3600" dirty="0"/>
          </a:p>
        </p:txBody>
      </p:sp>
      <p:sp>
        <p:nvSpPr>
          <p:cNvPr id="4" name="Text 2"/>
          <p:cNvSpPr/>
          <p:nvPr/>
        </p:nvSpPr>
        <p:spPr>
          <a:xfrm>
            <a:off x="1371515" y="3762327"/>
            <a:ext cx="7495475" cy="1228694"/>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La vulgarité satisfaite, la médiocrité confortable, la petitesse qui ne se sait pas petite. C'est le grand danger chez Tchekhov, et il n'a pas de nom en français.</a:t>
            </a:r>
            <a:endParaRPr lang="en-US" sz="2250" dirty="0"/>
          </a:p>
        </p:txBody>
      </p:sp>
      <p:sp>
        <p:nvSpPr>
          <p:cNvPr id="5" name="Text 3"/>
          <p:cNvSpPr/>
          <p:nvPr/>
        </p:nvSpPr>
        <p:spPr>
          <a:xfrm>
            <a:off x="9639215" y="3181295"/>
            <a:ext cx="8004877" cy="323861"/>
          </a:xfrm>
          <a:prstGeom prst="rect">
            <a:avLst/>
          </a:prstGeom>
          <a:noFill/>
          <a:ln/>
        </p:spPr>
        <p:txBody>
          <a:bodyPr wrap="square" lIns="25400" tIns="25400" rIns="25400" bIns="25400" rtlCol="0" anchor="t">
            <a:normAutofit/>
          </a:bodyPr>
          <a:lstStyle/>
          <a:p>
            <a:pPr algn="l" indent="0" marL="0">
              <a:lnSpc>
                <a:spcPct val="89942"/>
              </a:lnSpc>
              <a:buNone/>
            </a:pPr>
            <a:r>
              <a:rPr lang="en-US" sz="3600" spc="-54" kern="0" dirty="0">
                <a:solidFill>
                  <a:srgbClr val="201F1D"/>
                </a:solidFill>
                <a:latin typeface="Cormorant Garamond" pitchFamily="34" charset="0"/>
                <a:ea typeface="Cormorant Garamond" pitchFamily="34" charset="-122"/>
                <a:cs typeface="Cormorant Garamond" pitchFamily="34" charset="-120"/>
              </a:rPr>
              <a:t>Rien de dramatique n'arrive</a:t>
            </a:r>
            <a:endParaRPr lang="en-US" sz="3600" dirty="0"/>
          </a:p>
        </p:txBody>
      </p:sp>
      <p:sp>
        <p:nvSpPr>
          <p:cNvPr id="6" name="Text 4"/>
          <p:cNvSpPr/>
          <p:nvPr/>
        </p:nvSpPr>
        <p:spPr>
          <a:xfrm>
            <a:off x="9639215" y="3762327"/>
            <a:ext cx="7495475" cy="2219346"/>
          </a:xfrm>
          <a:prstGeom prst="rect">
            <a:avLst/>
          </a:prstGeom>
          <a:noFill/>
          <a:ln/>
        </p:spPr>
        <p:txBody>
          <a:bodyPr wrap="square" lIns="25400" tIns="25400" rIns="25400" bIns="25400" rtlCol="0" anchor="t">
            <a:normAutofit/>
          </a:bodyPr>
          <a:lstStyle/>
          <a:p>
            <a:pPr algn="just" indent="0" marL="0">
              <a:lnSpc>
                <a:spcPct val="134031"/>
              </a:lnSpc>
              <a:buNone/>
            </a:pPr>
            <a:r>
              <a:rPr lang="en-US" sz="2250" dirty="0">
                <a:solidFill>
                  <a:srgbClr val="201F1D"/>
                </a:solidFill>
                <a:latin typeface="Lora" pitchFamily="34" charset="0"/>
                <a:ea typeface="Lora" pitchFamily="34" charset="-122"/>
                <a:cs typeface="Lora" pitchFamily="34" charset="-120"/>
              </a:rPr>
              <a:t>Ionytch : un jeune médecin idéaliste devient en trente pages un homme gras, riche et vide qui compte ses billets le soir. La vie l'a simplement usé. Ses personnages se réveillent un jour en cherchant où est passée leur vie.</a:t>
            </a:r>
            <a:endParaRPr lang="en-US" sz="2250" dirty="0"/>
          </a:p>
        </p:txBody>
      </p:sp>
      <p:pic>
        <p:nvPicPr>
          <p:cNvPr id="7"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Comédie ou tragédie</a:t>
            </a:r>
            <a:endParaRPr lang="en-US" sz="5700" dirty="0"/>
          </a:p>
        </p:txBody>
      </p:sp>
      <p:sp>
        <p:nvSpPr>
          <p:cNvPr id="3" name="Text 1"/>
          <p:cNvSpPr/>
          <p:nvPr/>
        </p:nvSpPr>
        <p:spPr>
          <a:xfrm>
            <a:off x="1371515" y="3193183"/>
            <a:ext cx="7495475" cy="1895318"/>
          </a:xfrm>
          <a:prstGeom prst="rect">
            <a:avLst/>
          </a:prstGeom>
          <a:noFill/>
          <a:ln/>
        </p:spPr>
        <p:txBody>
          <a:bodyPr wrap="square" lIns="25400" tIns="25400" rIns="25400" bIns="25400" rtlCol="0" anchor="t">
            <a:normAutofit/>
          </a:bodyPr>
          <a:lstStyle/>
          <a:p>
            <a:pPr algn="l" indent="0" marL="0">
              <a:lnSpc>
                <a:spcPct val="117048"/>
              </a:lnSpc>
              <a:buNone/>
            </a:pPr>
            <a:r>
              <a:rPr lang="en-US" sz="3450" dirty="0">
                <a:solidFill>
                  <a:srgbClr val="201F1D"/>
                </a:solidFill>
                <a:latin typeface="Cormorant Garamond" pitchFamily="34" charset="0"/>
                <a:ea typeface="Cormorant Garamond" pitchFamily="34" charset="-122"/>
                <a:cs typeface="Cormorant Garamond" pitchFamily="34" charset="-120"/>
              </a:rPr>
              <a:t>“Ce n'est pas un drame qui m'est sorti, mais une comédie, par endroits même une farce.”</a:t>
            </a:r>
            <a:endParaRPr lang="en-US" sz="3450" dirty="0"/>
          </a:p>
        </p:txBody>
      </p:sp>
      <p:sp>
        <p:nvSpPr>
          <p:cNvPr id="4" name="Text 2"/>
          <p:cNvSpPr/>
          <p:nvPr/>
        </p:nvSpPr>
        <p:spPr>
          <a:xfrm>
            <a:off x="1371515" y="5385638"/>
            <a:ext cx="8004877" cy="392357"/>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211F1D">
                    <a:alpha val="55000"/>
                  </a:srgbClr>
                </a:solidFill>
                <a:latin typeface="Lora" pitchFamily="34" charset="0"/>
                <a:ea typeface="Lora" pitchFamily="34" charset="-122"/>
                <a:cs typeface="Lora" pitchFamily="34" charset="-120"/>
              </a:rPr>
              <a:t>— Tchekhov à M. P. Lilina, 15 septembre 1903</a:t>
            </a:r>
            <a:endParaRPr lang="en-US" sz="1800" dirty="0"/>
          </a:p>
        </p:txBody>
      </p:sp>
      <p:sp>
        <p:nvSpPr>
          <p:cNvPr id="5" name="Text 3"/>
          <p:cNvSpPr/>
          <p:nvPr/>
        </p:nvSpPr>
        <p:spPr>
          <a:xfrm>
            <a:off x="9639215" y="3193183"/>
            <a:ext cx="7495475" cy="1276245"/>
          </a:xfrm>
          <a:prstGeom prst="rect">
            <a:avLst/>
          </a:prstGeom>
          <a:noFill/>
          <a:ln/>
        </p:spPr>
        <p:txBody>
          <a:bodyPr wrap="square" lIns="25400" tIns="25400" rIns="25400" bIns="25400" rtlCol="0" anchor="t">
            <a:normAutofit/>
          </a:bodyPr>
          <a:lstStyle/>
          <a:p>
            <a:pPr algn="l" indent="0" marL="0">
              <a:lnSpc>
                <a:spcPct val="117048"/>
              </a:lnSpc>
              <a:buNone/>
            </a:pPr>
            <a:r>
              <a:rPr lang="en-US" sz="3450" dirty="0">
                <a:solidFill>
                  <a:srgbClr val="201F1D"/>
                </a:solidFill>
                <a:latin typeface="Cormorant Garamond" pitchFamily="34" charset="0"/>
                <a:ea typeface="Cormorant Garamond" pitchFamily="34" charset="-122"/>
                <a:cs typeface="Cormorant Garamond" pitchFamily="34" charset="-120"/>
              </a:rPr>
              <a:t>“Ce n'est pas une comédie, ni une farce, comme vous l'écrivez, c'est une tragédie.”</a:t>
            </a:r>
            <a:endParaRPr lang="en-US" sz="3450" dirty="0"/>
          </a:p>
        </p:txBody>
      </p:sp>
      <p:sp>
        <p:nvSpPr>
          <p:cNvPr id="6" name="Text 4"/>
          <p:cNvSpPr/>
          <p:nvPr/>
        </p:nvSpPr>
        <p:spPr>
          <a:xfrm>
            <a:off x="9639215" y="4766565"/>
            <a:ext cx="8004877" cy="392357"/>
          </a:xfrm>
          <a:prstGeom prst="rect">
            <a:avLst/>
          </a:prstGeom>
          <a:noFill/>
          <a:ln/>
        </p:spPr>
        <p:txBody>
          <a:bodyPr wrap="square" lIns="25400" tIns="25400" rIns="25400" bIns="25400" rtlCol="0" anchor="t">
            <a:normAutofit/>
          </a:bodyPr>
          <a:lstStyle/>
          <a:p>
            <a:pPr algn="l" indent="0" marL="0">
              <a:lnSpc>
                <a:spcPct val="119270"/>
              </a:lnSpc>
              <a:buNone/>
            </a:pPr>
            <a:r>
              <a:rPr lang="en-US" sz="1800" dirty="0">
                <a:solidFill>
                  <a:srgbClr val="211F1D">
                    <a:alpha val="55000"/>
                  </a:srgbClr>
                </a:solidFill>
                <a:latin typeface="Lora" pitchFamily="34" charset="0"/>
                <a:ea typeface="Lora" pitchFamily="34" charset="-122"/>
                <a:cs typeface="Lora" pitchFamily="34" charset="-120"/>
              </a:rPr>
              <a:t>— Stanislavski à Tchekhov, 22 octobre 1903</a:t>
            </a:r>
            <a:endParaRPr lang="en-US" sz="1800" dirty="0"/>
          </a:p>
        </p:txBody>
      </p:sp>
      <p:pic>
        <p:nvPicPr>
          <p:cNvPr id="7"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62525"/>
        </a:solidFill>
      </p:bgPr>
    </p:bg>
    <p:spTree>
      <p:nvGrpSpPr>
        <p:cNvPr id="1" name=""/>
        <p:cNvGrpSpPr/>
        <p:nvPr/>
      </p:nvGrpSpPr>
      <p:grpSpPr>
        <a:xfrm>
          <a:off x="0" y="0"/>
          <a:ext cx="0" cy="0"/>
          <a:chOff x="0" y="0"/>
          <a:chExt cx="0" cy="0"/>
        </a:xfrm>
      </p:grpSpPr>
      <p:sp>
        <p:nvSpPr>
          <p:cNvPr id="2" name="Text 0"/>
          <p:cNvSpPr/>
          <p:nvPr/>
        </p:nvSpPr>
        <p:spPr>
          <a:xfrm>
            <a:off x="1251505" y="3440903"/>
            <a:ext cx="2992426" cy="2609833"/>
          </a:xfrm>
          <a:prstGeom prst="rect">
            <a:avLst/>
          </a:prstGeom>
          <a:noFill/>
          <a:ln/>
        </p:spPr>
        <p:txBody>
          <a:bodyPr wrap="square" lIns="25400" tIns="25400" rIns="25400" bIns="25400" rtlCol="0" anchor="t">
            <a:normAutofit/>
          </a:bodyPr>
          <a:lstStyle/>
          <a:p>
            <a:pPr algn="l" indent="0" marL="0">
              <a:lnSpc>
                <a:spcPct val="74408"/>
              </a:lnSpc>
              <a:buNone/>
            </a:pPr>
            <a:r>
              <a:rPr lang="en-US" sz="22500" spc="-337" kern="0" dirty="0">
                <a:solidFill>
                  <a:srgbClr val="B68235"/>
                </a:solidFill>
                <a:latin typeface="Cormorant Garamond" pitchFamily="34" charset="0"/>
                <a:ea typeface="Cormorant Garamond" pitchFamily="34" charset="-122"/>
                <a:cs typeface="Cormorant Garamond" pitchFamily="34" charset="-120"/>
              </a:rPr>
              <a:t>04</a:t>
            </a:r>
            <a:endParaRPr lang="en-US" sz="22500" dirty="0"/>
          </a:p>
        </p:txBody>
      </p:sp>
      <p:sp>
        <p:nvSpPr>
          <p:cNvPr id="3" name="Text 1"/>
          <p:cNvSpPr/>
          <p:nvPr/>
        </p:nvSpPr>
        <p:spPr>
          <a:xfrm>
            <a:off x="1341173" y="6507849"/>
            <a:ext cx="4709198"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F3F2F2"/>
                </a:solidFill>
                <a:latin typeface="Cormorant Garamond" pitchFamily="34" charset="0"/>
                <a:ea typeface="Cormorant Garamond" pitchFamily="34" charset="-122"/>
                <a:cs typeface="Cormorant Garamond" pitchFamily="34" charset="-120"/>
              </a:rPr>
              <a:t>Jouer Tchekhov</a:t>
            </a:r>
            <a:endParaRPr lang="en-US" sz="5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Ce que le texte demande à l'acteur</a:t>
            </a:r>
            <a:endParaRPr lang="en-US" sz="5700" dirty="0"/>
          </a:p>
        </p:txBody>
      </p:sp>
      <p:sp>
        <p:nvSpPr>
          <p:cNvPr id="3" name="Text 1"/>
          <p:cNvSpPr/>
          <p:nvPr/>
        </p:nvSpPr>
        <p:spPr>
          <a:xfrm>
            <a:off x="1131485" y="3722361"/>
            <a:ext cx="12698702" cy="3745064"/>
          </a:xfrm>
          <a:prstGeom prst="rect">
            <a:avLst/>
          </a:prstGeom>
          <a:noFill/>
          <a:ln/>
        </p:spPr>
        <p:txBody>
          <a:bodyPr wrap="square" lIns="25400" tIns="25400" rIns="25400" bIns="25400" rtlCol="0" anchor="t">
            <a:normAutofit/>
          </a:bodyPr>
          <a:lstStyle/>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Jouer le dessous : ce qui est dit n'est jamais ce qui est ressenti</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Ne pas choisir entre le rire et les larmes — les tenir ensemble</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Ne juger personne : des gens qui essaient, se ratent, et continuent</a:t>
            </a:r>
            <a:endParaRPr lang="en-US" sz="2700" dirty="0"/>
          </a:p>
          <a:p>
            <a:pPr algn="l" indent="0" marL="0">
              <a:lnSpc>
                <a:spcPct val="112059"/>
              </a:lnSpc>
              <a:buNone/>
            </a:pPr>
            <a:r>
              <a:rPr lang="en-US" sz="2700" dirty="0">
                <a:solidFill>
                  <a:srgbClr val="201F1D"/>
                </a:solidFill>
                <a:latin typeface="Lora" pitchFamily="34" charset="0"/>
                <a:ea typeface="Lora" pitchFamily="34" charset="-122"/>
                <a:cs typeface="Lora" pitchFamily="34" charset="-120"/>
              </a:rPr>
              <a:t>Trancher soi-même ce que le texte laisse ouvert : Sonia croit-elle ce qu'elle dit ?</a:t>
            </a:r>
            <a:endParaRPr lang="en-US" sz="2700" dirty="0"/>
          </a:p>
        </p:txBody>
      </p:sp>
      <p:pic>
        <p:nvPicPr>
          <p:cNvPr id="4"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1173" y="1528774"/>
            <a:ext cx="17132723" cy="490517"/>
          </a:xfrm>
          <a:prstGeom prst="rect">
            <a:avLst/>
          </a:prstGeom>
          <a:noFill/>
          <a:ln/>
        </p:spPr>
        <p:txBody>
          <a:bodyPr wrap="square" lIns="25400" tIns="25400" rIns="25400" bIns="25400" rtlCol="0" anchor="t">
            <a:normAutofit/>
          </a:bodyPr>
          <a:lstStyle/>
          <a:p>
            <a:pPr algn="l" indent="0" marL="0">
              <a:lnSpc>
                <a:spcPct val="84739"/>
              </a:lnSpc>
              <a:buNone/>
            </a:pPr>
            <a:r>
              <a:rPr lang="en-US" sz="5700" spc="-57" kern="0" dirty="0">
                <a:solidFill>
                  <a:srgbClr val="201F1D"/>
                </a:solidFill>
                <a:latin typeface="Cormorant Garamond" pitchFamily="34" charset="0"/>
                <a:ea typeface="Cormorant Garamond" pitchFamily="34" charset="-122"/>
                <a:cs typeface="Cormorant Garamond" pitchFamily="34" charset="-120"/>
              </a:rPr>
              <a:t>Repères</a:t>
            </a:r>
            <a:endParaRPr lang="en-US" sz="5700" dirty="0"/>
          </a:p>
        </p:txBody>
      </p:sp>
      <p:sp>
        <p:nvSpPr>
          <p:cNvPr id="3" name="Shape 1"/>
          <p:cNvSpPr/>
          <p:nvPr/>
        </p:nvSpPr>
        <p:spPr>
          <a:xfrm>
            <a:off x="1371515" y="3949023"/>
            <a:ext cx="1428690" cy="9525"/>
          </a:xfrm>
          <a:prstGeom prst="rect">
            <a:avLst/>
          </a:prstGeom>
          <a:solidFill>
            <a:srgbClr val="1F1F1F">
              <a:alpha val="16000"/>
            </a:srgbClr>
          </a:solidFill>
          <a:ln/>
        </p:spPr>
      </p:sp>
      <p:sp>
        <p:nvSpPr>
          <p:cNvPr id="4" name="Text 2"/>
          <p:cNvSpPr/>
          <p:nvPr/>
        </p:nvSpPr>
        <p:spPr>
          <a:xfrm>
            <a:off x="1371515" y="3629956"/>
            <a:ext cx="1238190" cy="194268"/>
          </a:xfrm>
          <a:prstGeom prst="rect">
            <a:avLst/>
          </a:prstGeom>
          <a:noFill/>
          <a:ln/>
        </p:spPr>
        <p:txBody>
          <a:bodyPr wrap="square" lIns="25400" tIns="25400" rIns="25400" bIns="25400" rtlCol="0" anchor="t">
            <a:normAutofit/>
          </a:bodyPr>
          <a:lstStyle/>
          <a:p>
            <a:pPr algn="l" indent="0" marL="0">
              <a:lnSpc>
                <a:spcPct val="119270"/>
              </a:lnSpc>
              <a:buNone/>
            </a:pPr>
            <a:r>
              <a:rPr lang="en-US" sz="1800" b="1" spc="144" kern="0" dirty="0">
                <a:solidFill>
                  <a:srgbClr val="20201C">
                    <a:alpha val="60000"/>
                  </a:srgbClr>
                </a:solidFill>
                <a:latin typeface="Lora" pitchFamily="34" charset="0"/>
                <a:ea typeface="Lora" pitchFamily="34" charset="-122"/>
                <a:cs typeface="Lora" pitchFamily="34" charset="-120"/>
              </a:rPr>
              <a:t>DATE</a:t>
            </a:r>
            <a:endParaRPr lang="en-US" sz="1800" dirty="0"/>
          </a:p>
        </p:txBody>
      </p:sp>
      <p:sp>
        <p:nvSpPr>
          <p:cNvPr id="5" name="Shape 3"/>
          <p:cNvSpPr/>
          <p:nvPr/>
        </p:nvSpPr>
        <p:spPr>
          <a:xfrm>
            <a:off x="2800206" y="3949023"/>
            <a:ext cx="9163136" cy="9525"/>
          </a:xfrm>
          <a:prstGeom prst="rect">
            <a:avLst/>
          </a:prstGeom>
          <a:solidFill>
            <a:srgbClr val="1F1F1F">
              <a:alpha val="16000"/>
            </a:srgbClr>
          </a:solidFill>
          <a:ln/>
        </p:spPr>
      </p:sp>
      <p:sp>
        <p:nvSpPr>
          <p:cNvPr id="6" name="Text 4"/>
          <p:cNvSpPr/>
          <p:nvPr/>
        </p:nvSpPr>
        <p:spPr>
          <a:xfrm>
            <a:off x="3066906" y="3629956"/>
            <a:ext cx="8904630" cy="194268"/>
          </a:xfrm>
          <a:prstGeom prst="rect">
            <a:avLst/>
          </a:prstGeom>
          <a:noFill/>
          <a:ln/>
        </p:spPr>
        <p:txBody>
          <a:bodyPr wrap="square" lIns="25400" tIns="25400" rIns="25400" bIns="25400" rtlCol="0" anchor="t">
            <a:normAutofit/>
          </a:bodyPr>
          <a:lstStyle/>
          <a:p>
            <a:pPr algn="l" indent="0" marL="0">
              <a:lnSpc>
                <a:spcPct val="119270"/>
              </a:lnSpc>
              <a:buNone/>
            </a:pPr>
            <a:r>
              <a:rPr lang="en-US" sz="1800" b="1" spc="144" kern="0" dirty="0">
                <a:solidFill>
                  <a:srgbClr val="20201C">
                    <a:alpha val="60000"/>
                  </a:srgbClr>
                </a:solidFill>
                <a:latin typeface="Lora" pitchFamily="34" charset="0"/>
                <a:ea typeface="Lora" pitchFamily="34" charset="-122"/>
                <a:cs typeface="Lora" pitchFamily="34" charset="-120"/>
              </a:rPr>
              <a:t>LA VIE</a:t>
            </a:r>
            <a:endParaRPr lang="en-US" sz="1800" dirty="0"/>
          </a:p>
        </p:txBody>
      </p:sp>
      <p:sp>
        <p:nvSpPr>
          <p:cNvPr id="7" name="Shape 5"/>
          <p:cNvSpPr/>
          <p:nvPr/>
        </p:nvSpPr>
        <p:spPr>
          <a:xfrm>
            <a:off x="11963342" y="3949023"/>
            <a:ext cx="4952921" cy="9525"/>
          </a:xfrm>
          <a:prstGeom prst="rect">
            <a:avLst/>
          </a:prstGeom>
          <a:solidFill>
            <a:srgbClr val="1F1F1F">
              <a:alpha val="16000"/>
            </a:srgbClr>
          </a:solidFill>
          <a:ln/>
        </p:spPr>
      </p:sp>
      <p:sp>
        <p:nvSpPr>
          <p:cNvPr id="8" name="Text 6"/>
          <p:cNvSpPr/>
          <p:nvPr/>
        </p:nvSpPr>
        <p:spPr>
          <a:xfrm>
            <a:off x="12230042" y="3629956"/>
            <a:ext cx="4834809" cy="194268"/>
          </a:xfrm>
          <a:prstGeom prst="rect">
            <a:avLst/>
          </a:prstGeom>
          <a:noFill/>
          <a:ln/>
        </p:spPr>
        <p:txBody>
          <a:bodyPr wrap="square" lIns="25400" tIns="25400" rIns="25400" bIns="25400" rtlCol="0" anchor="t">
            <a:normAutofit/>
          </a:bodyPr>
          <a:lstStyle/>
          <a:p>
            <a:pPr algn="l" indent="0" marL="0">
              <a:lnSpc>
                <a:spcPct val="119270"/>
              </a:lnSpc>
              <a:buNone/>
            </a:pPr>
            <a:r>
              <a:rPr lang="en-US" sz="1800" b="1" spc="144" kern="0" dirty="0">
                <a:solidFill>
                  <a:srgbClr val="20201C">
                    <a:alpha val="60000"/>
                  </a:srgbClr>
                </a:solidFill>
                <a:latin typeface="Lora" pitchFamily="34" charset="0"/>
                <a:ea typeface="Lora" pitchFamily="34" charset="-122"/>
                <a:cs typeface="Lora" pitchFamily="34" charset="-120"/>
              </a:rPr>
              <a:t>L'ŒUVRE</a:t>
            </a:r>
            <a:endParaRPr lang="en-US" sz="1800" dirty="0"/>
          </a:p>
        </p:txBody>
      </p:sp>
      <p:sp>
        <p:nvSpPr>
          <p:cNvPr id="9" name="Shape 7"/>
          <p:cNvSpPr/>
          <p:nvPr/>
        </p:nvSpPr>
        <p:spPr>
          <a:xfrm>
            <a:off x="1371515" y="4441858"/>
            <a:ext cx="1428690" cy="9525"/>
          </a:xfrm>
          <a:prstGeom prst="rect">
            <a:avLst/>
          </a:prstGeom>
          <a:solidFill>
            <a:srgbClr val="1F1F1F">
              <a:alpha val="16000"/>
            </a:srgbClr>
          </a:solidFill>
          <a:ln/>
        </p:spPr>
      </p:sp>
      <p:sp>
        <p:nvSpPr>
          <p:cNvPr id="10" name="Text 8"/>
          <p:cNvSpPr/>
          <p:nvPr/>
        </p:nvSpPr>
        <p:spPr>
          <a:xfrm>
            <a:off x="1371515" y="4105829"/>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1841</a:t>
            </a:r>
            <a:endParaRPr lang="en-US" sz="2100" dirty="0"/>
          </a:p>
        </p:txBody>
      </p:sp>
      <p:sp>
        <p:nvSpPr>
          <p:cNvPr id="11" name="Shape 9"/>
          <p:cNvSpPr/>
          <p:nvPr/>
        </p:nvSpPr>
        <p:spPr>
          <a:xfrm>
            <a:off x="2800206" y="4441858"/>
            <a:ext cx="9163136" cy="9525"/>
          </a:xfrm>
          <a:prstGeom prst="rect">
            <a:avLst/>
          </a:prstGeom>
          <a:solidFill>
            <a:srgbClr val="1F1F1F">
              <a:alpha val="16000"/>
            </a:srgbClr>
          </a:solidFill>
          <a:ln/>
        </p:spPr>
      </p:sp>
      <p:sp>
        <p:nvSpPr>
          <p:cNvPr id="12" name="Text 10"/>
          <p:cNvSpPr/>
          <p:nvPr/>
        </p:nvSpPr>
        <p:spPr>
          <a:xfrm>
            <a:off x="3066906" y="4105829"/>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Le grand-père rachète la liberté de la famille</a:t>
            </a:r>
            <a:endParaRPr lang="en-US" sz="2100" dirty="0"/>
          </a:p>
        </p:txBody>
      </p:sp>
      <p:sp>
        <p:nvSpPr>
          <p:cNvPr id="13" name="Shape 11"/>
          <p:cNvSpPr/>
          <p:nvPr/>
        </p:nvSpPr>
        <p:spPr>
          <a:xfrm>
            <a:off x="11963342" y="4441858"/>
            <a:ext cx="4952921" cy="9525"/>
          </a:xfrm>
          <a:prstGeom prst="rect">
            <a:avLst/>
          </a:prstGeom>
          <a:solidFill>
            <a:srgbClr val="1F1F1F">
              <a:alpha val="16000"/>
            </a:srgbClr>
          </a:solidFill>
          <a:ln/>
        </p:spPr>
      </p:sp>
      <p:sp>
        <p:nvSpPr>
          <p:cNvPr id="14" name="Text 12"/>
          <p:cNvSpPr/>
          <p:nvPr/>
        </p:nvSpPr>
        <p:spPr>
          <a:xfrm>
            <a:off x="12230042" y="4105829"/>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a:t>
            </a:r>
            <a:endParaRPr lang="en-US" sz="2100" dirty="0"/>
          </a:p>
        </p:txBody>
      </p:sp>
      <p:sp>
        <p:nvSpPr>
          <p:cNvPr id="15" name="Shape 13"/>
          <p:cNvSpPr/>
          <p:nvPr/>
        </p:nvSpPr>
        <p:spPr>
          <a:xfrm>
            <a:off x="1371515" y="4934693"/>
            <a:ext cx="1428690" cy="9525"/>
          </a:xfrm>
          <a:prstGeom prst="rect">
            <a:avLst/>
          </a:prstGeom>
          <a:solidFill>
            <a:srgbClr val="1F1F1F">
              <a:alpha val="16000"/>
            </a:srgbClr>
          </a:solidFill>
          <a:ln/>
        </p:spPr>
      </p:sp>
      <p:sp>
        <p:nvSpPr>
          <p:cNvPr id="16" name="Text 14"/>
          <p:cNvSpPr/>
          <p:nvPr/>
        </p:nvSpPr>
        <p:spPr>
          <a:xfrm>
            <a:off x="1371515" y="4598664"/>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1860</a:t>
            </a:r>
            <a:endParaRPr lang="en-US" sz="2100" dirty="0"/>
          </a:p>
        </p:txBody>
      </p:sp>
      <p:sp>
        <p:nvSpPr>
          <p:cNvPr id="17" name="Shape 15"/>
          <p:cNvSpPr/>
          <p:nvPr/>
        </p:nvSpPr>
        <p:spPr>
          <a:xfrm>
            <a:off x="2800206" y="4934693"/>
            <a:ext cx="9163136" cy="9525"/>
          </a:xfrm>
          <a:prstGeom prst="rect">
            <a:avLst/>
          </a:prstGeom>
          <a:solidFill>
            <a:srgbClr val="1F1F1F">
              <a:alpha val="16000"/>
            </a:srgbClr>
          </a:solidFill>
          <a:ln/>
        </p:spPr>
      </p:sp>
      <p:sp>
        <p:nvSpPr>
          <p:cNvPr id="18" name="Text 16"/>
          <p:cNvSpPr/>
          <p:nvPr/>
        </p:nvSpPr>
        <p:spPr>
          <a:xfrm>
            <a:off x="3066906" y="4598664"/>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Naissance à Taganrog</a:t>
            </a:r>
            <a:endParaRPr lang="en-US" sz="2100" dirty="0"/>
          </a:p>
        </p:txBody>
      </p:sp>
      <p:sp>
        <p:nvSpPr>
          <p:cNvPr id="19" name="Shape 17"/>
          <p:cNvSpPr/>
          <p:nvPr/>
        </p:nvSpPr>
        <p:spPr>
          <a:xfrm>
            <a:off x="11963342" y="4934693"/>
            <a:ext cx="4952921" cy="9525"/>
          </a:xfrm>
          <a:prstGeom prst="rect">
            <a:avLst/>
          </a:prstGeom>
          <a:solidFill>
            <a:srgbClr val="1F1F1F">
              <a:alpha val="16000"/>
            </a:srgbClr>
          </a:solidFill>
          <a:ln/>
        </p:spPr>
      </p:sp>
      <p:sp>
        <p:nvSpPr>
          <p:cNvPr id="20" name="Text 18"/>
          <p:cNvSpPr/>
          <p:nvPr/>
        </p:nvSpPr>
        <p:spPr>
          <a:xfrm>
            <a:off x="12230042" y="4598664"/>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a:t>
            </a:r>
            <a:endParaRPr lang="en-US" sz="2100" dirty="0"/>
          </a:p>
        </p:txBody>
      </p:sp>
      <p:sp>
        <p:nvSpPr>
          <p:cNvPr id="21" name="Shape 19"/>
          <p:cNvSpPr/>
          <p:nvPr/>
        </p:nvSpPr>
        <p:spPr>
          <a:xfrm>
            <a:off x="1371515" y="5427528"/>
            <a:ext cx="1428690" cy="9525"/>
          </a:xfrm>
          <a:prstGeom prst="rect">
            <a:avLst/>
          </a:prstGeom>
          <a:solidFill>
            <a:srgbClr val="1F1F1F">
              <a:alpha val="16000"/>
            </a:srgbClr>
          </a:solidFill>
          <a:ln/>
        </p:spPr>
      </p:sp>
      <p:sp>
        <p:nvSpPr>
          <p:cNvPr id="22" name="Text 20"/>
          <p:cNvSpPr/>
          <p:nvPr/>
        </p:nvSpPr>
        <p:spPr>
          <a:xfrm>
            <a:off x="1371515" y="5091500"/>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1876</a:t>
            </a:r>
            <a:endParaRPr lang="en-US" sz="2100" dirty="0"/>
          </a:p>
        </p:txBody>
      </p:sp>
      <p:sp>
        <p:nvSpPr>
          <p:cNvPr id="23" name="Shape 21"/>
          <p:cNvSpPr/>
          <p:nvPr/>
        </p:nvSpPr>
        <p:spPr>
          <a:xfrm>
            <a:off x="2800206" y="5427528"/>
            <a:ext cx="9163136" cy="9525"/>
          </a:xfrm>
          <a:prstGeom prst="rect">
            <a:avLst/>
          </a:prstGeom>
          <a:solidFill>
            <a:srgbClr val="1F1F1F">
              <a:alpha val="16000"/>
            </a:srgbClr>
          </a:solidFill>
          <a:ln/>
        </p:spPr>
      </p:sp>
      <p:sp>
        <p:nvSpPr>
          <p:cNvPr id="24" name="Text 22"/>
          <p:cNvSpPr/>
          <p:nvPr/>
        </p:nvSpPr>
        <p:spPr>
          <a:xfrm>
            <a:off x="3066906" y="5091500"/>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Faillite du père ; seul à Taganrog</a:t>
            </a:r>
            <a:endParaRPr lang="en-US" sz="2100" dirty="0"/>
          </a:p>
        </p:txBody>
      </p:sp>
      <p:sp>
        <p:nvSpPr>
          <p:cNvPr id="25" name="Shape 23"/>
          <p:cNvSpPr/>
          <p:nvPr/>
        </p:nvSpPr>
        <p:spPr>
          <a:xfrm>
            <a:off x="11963342" y="5427528"/>
            <a:ext cx="4952921" cy="9525"/>
          </a:xfrm>
          <a:prstGeom prst="rect">
            <a:avLst/>
          </a:prstGeom>
          <a:solidFill>
            <a:srgbClr val="1F1F1F">
              <a:alpha val="16000"/>
            </a:srgbClr>
          </a:solidFill>
          <a:ln/>
        </p:spPr>
      </p:sp>
      <p:sp>
        <p:nvSpPr>
          <p:cNvPr id="26" name="Text 24"/>
          <p:cNvSpPr/>
          <p:nvPr/>
        </p:nvSpPr>
        <p:spPr>
          <a:xfrm>
            <a:off x="12230042" y="5091500"/>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Antocha Tchékhonté</a:t>
            </a:r>
            <a:endParaRPr lang="en-US" sz="2100" dirty="0"/>
          </a:p>
        </p:txBody>
      </p:sp>
      <p:sp>
        <p:nvSpPr>
          <p:cNvPr id="27" name="Shape 25"/>
          <p:cNvSpPr/>
          <p:nvPr/>
        </p:nvSpPr>
        <p:spPr>
          <a:xfrm>
            <a:off x="1371515" y="5920363"/>
            <a:ext cx="1428690" cy="9525"/>
          </a:xfrm>
          <a:prstGeom prst="rect">
            <a:avLst/>
          </a:prstGeom>
          <a:solidFill>
            <a:srgbClr val="1F1F1F">
              <a:alpha val="16000"/>
            </a:srgbClr>
          </a:solidFill>
          <a:ln/>
        </p:spPr>
      </p:sp>
      <p:sp>
        <p:nvSpPr>
          <p:cNvPr id="28" name="Text 26"/>
          <p:cNvSpPr/>
          <p:nvPr/>
        </p:nvSpPr>
        <p:spPr>
          <a:xfrm>
            <a:off x="1371515" y="5584335"/>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1884</a:t>
            </a:r>
            <a:endParaRPr lang="en-US" sz="2100" dirty="0"/>
          </a:p>
        </p:txBody>
      </p:sp>
      <p:sp>
        <p:nvSpPr>
          <p:cNvPr id="29" name="Shape 27"/>
          <p:cNvSpPr/>
          <p:nvPr/>
        </p:nvSpPr>
        <p:spPr>
          <a:xfrm>
            <a:off x="2800206" y="5920363"/>
            <a:ext cx="9163136" cy="9525"/>
          </a:xfrm>
          <a:prstGeom prst="rect">
            <a:avLst/>
          </a:prstGeom>
          <a:solidFill>
            <a:srgbClr val="1F1F1F">
              <a:alpha val="16000"/>
            </a:srgbClr>
          </a:solidFill>
          <a:ln/>
        </p:spPr>
      </p:sp>
      <p:sp>
        <p:nvSpPr>
          <p:cNvPr id="30" name="Text 28"/>
          <p:cNvSpPr/>
          <p:nvPr/>
        </p:nvSpPr>
        <p:spPr>
          <a:xfrm>
            <a:off x="3066906" y="5584335"/>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Diplôme de médecine ; première hémoptysie</a:t>
            </a:r>
            <a:endParaRPr lang="en-US" sz="2100" dirty="0"/>
          </a:p>
        </p:txBody>
      </p:sp>
      <p:sp>
        <p:nvSpPr>
          <p:cNvPr id="31" name="Shape 29"/>
          <p:cNvSpPr/>
          <p:nvPr/>
        </p:nvSpPr>
        <p:spPr>
          <a:xfrm>
            <a:off x="11963342" y="5920363"/>
            <a:ext cx="4952921" cy="9525"/>
          </a:xfrm>
          <a:prstGeom prst="rect">
            <a:avLst/>
          </a:prstGeom>
          <a:solidFill>
            <a:srgbClr val="1F1F1F">
              <a:alpha val="16000"/>
            </a:srgbClr>
          </a:solidFill>
          <a:ln/>
        </p:spPr>
      </p:sp>
      <p:sp>
        <p:nvSpPr>
          <p:cNvPr id="32" name="Text 30"/>
          <p:cNvSpPr/>
          <p:nvPr/>
        </p:nvSpPr>
        <p:spPr>
          <a:xfrm>
            <a:off x="12230042" y="5584335"/>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a:t>
            </a:r>
            <a:endParaRPr lang="en-US" sz="2100" dirty="0"/>
          </a:p>
        </p:txBody>
      </p:sp>
      <p:sp>
        <p:nvSpPr>
          <p:cNvPr id="33" name="Shape 31"/>
          <p:cNvSpPr/>
          <p:nvPr/>
        </p:nvSpPr>
        <p:spPr>
          <a:xfrm>
            <a:off x="1371515" y="6413199"/>
            <a:ext cx="1428690" cy="9525"/>
          </a:xfrm>
          <a:prstGeom prst="rect">
            <a:avLst/>
          </a:prstGeom>
          <a:solidFill>
            <a:srgbClr val="1F1F1F">
              <a:alpha val="16000"/>
            </a:srgbClr>
          </a:solidFill>
          <a:ln/>
        </p:spPr>
      </p:sp>
      <p:sp>
        <p:nvSpPr>
          <p:cNvPr id="34" name="Text 32"/>
          <p:cNvSpPr/>
          <p:nvPr/>
        </p:nvSpPr>
        <p:spPr>
          <a:xfrm>
            <a:off x="1371515" y="6077170"/>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1890</a:t>
            </a:r>
            <a:endParaRPr lang="en-US" sz="2100" dirty="0"/>
          </a:p>
        </p:txBody>
      </p:sp>
      <p:sp>
        <p:nvSpPr>
          <p:cNvPr id="35" name="Shape 33"/>
          <p:cNvSpPr/>
          <p:nvPr/>
        </p:nvSpPr>
        <p:spPr>
          <a:xfrm>
            <a:off x="2800206" y="6413199"/>
            <a:ext cx="9163136" cy="9525"/>
          </a:xfrm>
          <a:prstGeom prst="rect">
            <a:avLst/>
          </a:prstGeom>
          <a:solidFill>
            <a:srgbClr val="1F1F1F">
              <a:alpha val="16000"/>
            </a:srgbClr>
          </a:solidFill>
          <a:ln/>
        </p:spPr>
      </p:sp>
      <p:sp>
        <p:nvSpPr>
          <p:cNvPr id="36" name="Text 34"/>
          <p:cNvSpPr/>
          <p:nvPr/>
        </p:nvSpPr>
        <p:spPr>
          <a:xfrm>
            <a:off x="3066906" y="6077170"/>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Trois mois de Sibérie, recensement du bagne</a:t>
            </a:r>
            <a:endParaRPr lang="en-US" sz="2100" dirty="0"/>
          </a:p>
        </p:txBody>
      </p:sp>
      <p:sp>
        <p:nvSpPr>
          <p:cNvPr id="37" name="Shape 35"/>
          <p:cNvSpPr/>
          <p:nvPr/>
        </p:nvSpPr>
        <p:spPr>
          <a:xfrm>
            <a:off x="11963342" y="6413199"/>
            <a:ext cx="4952921" cy="9525"/>
          </a:xfrm>
          <a:prstGeom prst="rect">
            <a:avLst/>
          </a:prstGeom>
          <a:solidFill>
            <a:srgbClr val="1F1F1F">
              <a:alpha val="16000"/>
            </a:srgbClr>
          </a:solidFill>
          <a:ln/>
        </p:spPr>
      </p:sp>
      <p:sp>
        <p:nvSpPr>
          <p:cNvPr id="38" name="Text 36"/>
          <p:cNvSpPr/>
          <p:nvPr/>
        </p:nvSpPr>
        <p:spPr>
          <a:xfrm>
            <a:off x="12230042" y="6077170"/>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L'Île de Sakhaline</a:t>
            </a:r>
            <a:endParaRPr lang="en-US" sz="2100" dirty="0"/>
          </a:p>
        </p:txBody>
      </p:sp>
      <p:sp>
        <p:nvSpPr>
          <p:cNvPr id="39" name="Shape 37"/>
          <p:cNvSpPr/>
          <p:nvPr/>
        </p:nvSpPr>
        <p:spPr>
          <a:xfrm>
            <a:off x="1371515" y="6906034"/>
            <a:ext cx="1428690" cy="9525"/>
          </a:xfrm>
          <a:prstGeom prst="rect">
            <a:avLst/>
          </a:prstGeom>
          <a:solidFill>
            <a:srgbClr val="1F1F1F">
              <a:alpha val="16000"/>
            </a:srgbClr>
          </a:solidFill>
          <a:ln/>
        </p:spPr>
      </p:sp>
      <p:sp>
        <p:nvSpPr>
          <p:cNvPr id="40" name="Text 38"/>
          <p:cNvSpPr/>
          <p:nvPr/>
        </p:nvSpPr>
        <p:spPr>
          <a:xfrm>
            <a:off x="1371515" y="6570005"/>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1892</a:t>
            </a:r>
            <a:endParaRPr lang="en-US" sz="2100" dirty="0"/>
          </a:p>
        </p:txBody>
      </p:sp>
      <p:sp>
        <p:nvSpPr>
          <p:cNvPr id="41" name="Shape 39"/>
          <p:cNvSpPr/>
          <p:nvPr/>
        </p:nvSpPr>
        <p:spPr>
          <a:xfrm>
            <a:off x="2800206" y="6906034"/>
            <a:ext cx="9163136" cy="9525"/>
          </a:xfrm>
          <a:prstGeom prst="rect">
            <a:avLst/>
          </a:prstGeom>
          <a:solidFill>
            <a:srgbClr val="1F1F1F">
              <a:alpha val="16000"/>
            </a:srgbClr>
          </a:solidFill>
          <a:ln/>
        </p:spPr>
      </p:sp>
      <p:sp>
        <p:nvSpPr>
          <p:cNvPr id="42" name="Text 40"/>
          <p:cNvSpPr/>
          <p:nvPr/>
        </p:nvSpPr>
        <p:spPr>
          <a:xfrm>
            <a:off x="3066906" y="6570005"/>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Achat de Melikhovo ; lutte contre le choléra</a:t>
            </a:r>
            <a:endParaRPr lang="en-US" sz="2100" dirty="0"/>
          </a:p>
        </p:txBody>
      </p:sp>
      <p:sp>
        <p:nvSpPr>
          <p:cNvPr id="43" name="Shape 41"/>
          <p:cNvSpPr/>
          <p:nvPr/>
        </p:nvSpPr>
        <p:spPr>
          <a:xfrm>
            <a:off x="11963342" y="6906034"/>
            <a:ext cx="4952921" cy="9525"/>
          </a:xfrm>
          <a:prstGeom prst="rect">
            <a:avLst/>
          </a:prstGeom>
          <a:solidFill>
            <a:srgbClr val="1F1F1F">
              <a:alpha val="16000"/>
            </a:srgbClr>
          </a:solidFill>
          <a:ln/>
        </p:spPr>
      </p:sp>
      <p:sp>
        <p:nvSpPr>
          <p:cNvPr id="44" name="Text 42"/>
          <p:cNvSpPr/>
          <p:nvPr/>
        </p:nvSpPr>
        <p:spPr>
          <a:xfrm>
            <a:off x="12230042" y="6570005"/>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La Salle n° 6</a:t>
            </a:r>
            <a:endParaRPr lang="en-US" sz="2100" dirty="0"/>
          </a:p>
        </p:txBody>
      </p:sp>
      <p:sp>
        <p:nvSpPr>
          <p:cNvPr id="45" name="Shape 43"/>
          <p:cNvSpPr/>
          <p:nvPr/>
        </p:nvSpPr>
        <p:spPr>
          <a:xfrm>
            <a:off x="1371515" y="7398869"/>
            <a:ext cx="1428690" cy="9525"/>
          </a:xfrm>
          <a:prstGeom prst="rect">
            <a:avLst/>
          </a:prstGeom>
          <a:solidFill>
            <a:srgbClr val="1F1F1F">
              <a:alpha val="16000"/>
            </a:srgbClr>
          </a:solidFill>
          <a:ln/>
        </p:spPr>
      </p:sp>
      <p:sp>
        <p:nvSpPr>
          <p:cNvPr id="46" name="Text 44"/>
          <p:cNvSpPr/>
          <p:nvPr/>
        </p:nvSpPr>
        <p:spPr>
          <a:xfrm>
            <a:off x="1371515" y="7062840"/>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1898</a:t>
            </a:r>
            <a:endParaRPr lang="en-US" sz="2100" dirty="0"/>
          </a:p>
        </p:txBody>
      </p:sp>
      <p:sp>
        <p:nvSpPr>
          <p:cNvPr id="47" name="Shape 45"/>
          <p:cNvSpPr/>
          <p:nvPr/>
        </p:nvSpPr>
        <p:spPr>
          <a:xfrm>
            <a:off x="2800206" y="7398869"/>
            <a:ext cx="9163136" cy="9525"/>
          </a:xfrm>
          <a:prstGeom prst="rect">
            <a:avLst/>
          </a:prstGeom>
          <a:solidFill>
            <a:srgbClr val="1F1F1F">
              <a:alpha val="16000"/>
            </a:srgbClr>
          </a:solidFill>
          <a:ln/>
        </p:spPr>
      </p:sp>
      <p:sp>
        <p:nvSpPr>
          <p:cNvPr id="48" name="Text 46"/>
          <p:cNvSpPr/>
          <p:nvPr/>
        </p:nvSpPr>
        <p:spPr>
          <a:xfrm>
            <a:off x="3066906" y="7062840"/>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Triomphe au Théâtre d'Art ; affaire Dreyfus</a:t>
            </a:r>
            <a:endParaRPr lang="en-US" sz="2100" dirty="0"/>
          </a:p>
        </p:txBody>
      </p:sp>
      <p:sp>
        <p:nvSpPr>
          <p:cNvPr id="49" name="Shape 47"/>
          <p:cNvSpPr/>
          <p:nvPr/>
        </p:nvSpPr>
        <p:spPr>
          <a:xfrm>
            <a:off x="11963342" y="7398869"/>
            <a:ext cx="4952921" cy="9525"/>
          </a:xfrm>
          <a:prstGeom prst="rect">
            <a:avLst/>
          </a:prstGeom>
          <a:solidFill>
            <a:srgbClr val="1F1F1F">
              <a:alpha val="16000"/>
            </a:srgbClr>
          </a:solidFill>
          <a:ln/>
        </p:spPr>
      </p:sp>
      <p:sp>
        <p:nvSpPr>
          <p:cNvPr id="50" name="Text 48"/>
          <p:cNvSpPr/>
          <p:nvPr/>
        </p:nvSpPr>
        <p:spPr>
          <a:xfrm>
            <a:off x="12230042" y="7062840"/>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L'Homme à l'étui</a:t>
            </a:r>
            <a:endParaRPr lang="en-US" sz="2100" dirty="0"/>
          </a:p>
        </p:txBody>
      </p:sp>
      <p:sp>
        <p:nvSpPr>
          <p:cNvPr id="51" name="Shape 49"/>
          <p:cNvSpPr/>
          <p:nvPr/>
        </p:nvSpPr>
        <p:spPr>
          <a:xfrm>
            <a:off x="1371515" y="7891705"/>
            <a:ext cx="1428690" cy="9525"/>
          </a:xfrm>
          <a:prstGeom prst="rect">
            <a:avLst/>
          </a:prstGeom>
          <a:solidFill>
            <a:srgbClr val="1F1F1F">
              <a:alpha val="16000"/>
            </a:srgbClr>
          </a:solidFill>
          <a:ln/>
        </p:spPr>
      </p:sp>
      <p:sp>
        <p:nvSpPr>
          <p:cNvPr id="52" name="Text 50"/>
          <p:cNvSpPr/>
          <p:nvPr/>
        </p:nvSpPr>
        <p:spPr>
          <a:xfrm>
            <a:off x="1371515" y="7555676"/>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1901</a:t>
            </a:r>
            <a:endParaRPr lang="en-US" sz="2100" dirty="0"/>
          </a:p>
        </p:txBody>
      </p:sp>
      <p:sp>
        <p:nvSpPr>
          <p:cNvPr id="53" name="Shape 51"/>
          <p:cNvSpPr/>
          <p:nvPr/>
        </p:nvSpPr>
        <p:spPr>
          <a:xfrm>
            <a:off x="2800206" y="7891705"/>
            <a:ext cx="9163136" cy="9525"/>
          </a:xfrm>
          <a:prstGeom prst="rect">
            <a:avLst/>
          </a:prstGeom>
          <a:solidFill>
            <a:srgbClr val="1F1F1F">
              <a:alpha val="16000"/>
            </a:srgbClr>
          </a:solidFill>
          <a:ln/>
        </p:spPr>
      </p:sp>
      <p:sp>
        <p:nvSpPr>
          <p:cNvPr id="54" name="Text 52"/>
          <p:cNvSpPr/>
          <p:nvPr/>
        </p:nvSpPr>
        <p:spPr>
          <a:xfrm>
            <a:off x="3066906" y="7555676"/>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Mariage avec Olga Knipper</a:t>
            </a:r>
            <a:endParaRPr lang="en-US" sz="2100" dirty="0"/>
          </a:p>
        </p:txBody>
      </p:sp>
      <p:sp>
        <p:nvSpPr>
          <p:cNvPr id="55" name="Shape 53"/>
          <p:cNvSpPr/>
          <p:nvPr/>
        </p:nvSpPr>
        <p:spPr>
          <a:xfrm>
            <a:off x="11963342" y="7891705"/>
            <a:ext cx="4952921" cy="9525"/>
          </a:xfrm>
          <a:prstGeom prst="rect">
            <a:avLst/>
          </a:prstGeom>
          <a:solidFill>
            <a:srgbClr val="1F1F1F">
              <a:alpha val="16000"/>
            </a:srgbClr>
          </a:solidFill>
          <a:ln/>
        </p:spPr>
      </p:sp>
      <p:sp>
        <p:nvSpPr>
          <p:cNvPr id="56" name="Text 54"/>
          <p:cNvSpPr/>
          <p:nvPr/>
        </p:nvSpPr>
        <p:spPr>
          <a:xfrm>
            <a:off x="12230042" y="7555676"/>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Les Trois Sœurs</a:t>
            </a:r>
            <a:endParaRPr lang="en-US" sz="2100" dirty="0"/>
          </a:p>
        </p:txBody>
      </p:sp>
      <p:sp>
        <p:nvSpPr>
          <p:cNvPr id="57" name="Shape 55"/>
          <p:cNvSpPr/>
          <p:nvPr/>
        </p:nvSpPr>
        <p:spPr>
          <a:xfrm>
            <a:off x="1371515" y="8384540"/>
            <a:ext cx="1428690" cy="9525"/>
          </a:xfrm>
          <a:prstGeom prst="rect">
            <a:avLst/>
          </a:prstGeom>
          <a:solidFill>
            <a:srgbClr val="1F1F1F">
              <a:alpha val="16000"/>
            </a:srgbClr>
          </a:solidFill>
          <a:ln/>
        </p:spPr>
      </p:sp>
      <p:sp>
        <p:nvSpPr>
          <p:cNvPr id="58" name="Text 56"/>
          <p:cNvSpPr/>
          <p:nvPr/>
        </p:nvSpPr>
        <p:spPr>
          <a:xfrm>
            <a:off x="1371515" y="8048511"/>
            <a:ext cx="123819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7D5411"/>
                </a:solidFill>
                <a:latin typeface="Lora" pitchFamily="34" charset="0"/>
                <a:ea typeface="Lora" pitchFamily="34" charset="-122"/>
                <a:cs typeface="Lora" pitchFamily="34" charset="-120"/>
              </a:rPr>
              <a:t>1904</a:t>
            </a:r>
            <a:endParaRPr lang="en-US" sz="2100" dirty="0"/>
          </a:p>
        </p:txBody>
      </p:sp>
      <p:sp>
        <p:nvSpPr>
          <p:cNvPr id="59" name="Shape 57"/>
          <p:cNvSpPr/>
          <p:nvPr/>
        </p:nvSpPr>
        <p:spPr>
          <a:xfrm>
            <a:off x="2800206" y="8384540"/>
            <a:ext cx="9163136" cy="9525"/>
          </a:xfrm>
          <a:prstGeom prst="rect">
            <a:avLst/>
          </a:prstGeom>
          <a:solidFill>
            <a:srgbClr val="1F1F1F">
              <a:alpha val="16000"/>
            </a:srgbClr>
          </a:solidFill>
          <a:ln/>
        </p:spPr>
      </p:sp>
      <p:sp>
        <p:nvSpPr>
          <p:cNvPr id="60" name="Text 58"/>
          <p:cNvSpPr/>
          <p:nvPr/>
        </p:nvSpPr>
        <p:spPr>
          <a:xfrm>
            <a:off x="3066906" y="8048511"/>
            <a:ext cx="8904630"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Mort à Badenweiler, à quarante-quatre ans</a:t>
            </a:r>
            <a:endParaRPr lang="en-US" sz="2100" dirty="0"/>
          </a:p>
        </p:txBody>
      </p:sp>
      <p:sp>
        <p:nvSpPr>
          <p:cNvPr id="61" name="Shape 59"/>
          <p:cNvSpPr/>
          <p:nvPr/>
        </p:nvSpPr>
        <p:spPr>
          <a:xfrm>
            <a:off x="11963342" y="8384540"/>
            <a:ext cx="4952921" cy="9525"/>
          </a:xfrm>
          <a:prstGeom prst="rect">
            <a:avLst/>
          </a:prstGeom>
          <a:solidFill>
            <a:srgbClr val="1F1F1F">
              <a:alpha val="16000"/>
            </a:srgbClr>
          </a:solidFill>
          <a:ln/>
        </p:spPr>
      </p:sp>
      <p:sp>
        <p:nvSpPr>
          <p:cNvPr id="62" name="Text 60"/>
          <p:cNvSpPr/>
          <p:nvPr/>
        </p:nvSpPr>
        <p:spPr>
          <a:xfrm>
            <a:off x="12230042" y="8048511"/>
            <a:ext cx="4834809" cy="224568"/>
          </a:xfrm>
          <a:prstGeom prst="rect">
            <a:avLst/>
          </a:prstGeom>
          <a:noFill/>
          <a:ln/>
        </p:spPr>
        <p:txBody>
          <a:bodyPr wrap="square" lIns="25400" tIns="25400" rIns="25400" bIns="25400" rtlCol="0" anchor="t">
            <a:normAutofit/>
          </a:bodyPr>
          <a:lstStyle/>
          <a:p>
            <a:pPr algn="l" indent="0" marL="0">
              <a:lnSpc>
                <a:spcPct val="121385"/>
              </a:lnSpc>
              <a:buNone/>
            </a:pPr>
            <a:r>
              <a:rPr lang="en-US" sz="2100" dirty="0">
                <a:solidFill>
                  <a:srgbClr val="201F1D"/>
                </a:solidFill>
                <a:latin typeface="Lora" pitchFamily="34" charset="0"/>
                <a:ea typeface="Lora" pitchFamily="34" charset="-122"/>
                <a:cs typeface="Lora" pitchFamily="34" charset="-120"/>
              </a:rPr>
              <a:t>La Cerisaie</a:t>
            </a:r>
            <a:endParaRPr lang="en-US" sz="2100" dirty="0"/>
          </a:p>
        </p:txBody>
      </p:sp>
      <p:pic>
        <p:nvPicPr>
          <p:cNvPr id="63"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71515" y="830563"/>
            <a:ext cx="17099347" cy="198076"/>
          </a:xfrm>
          <a:prstGeom prst="rect">
            <a:avLst/>
          </a:prstGeom>
          <a:noFill/>
          <a:ln/>
        </p:spPr>
        <p:txBody>
          <a:bodyPr wrap="none" lIns="25400" tIns="25400" rIns="25400" bIns="25400" rtlCol="0" anchor="t">
            <a:normAutofit/>
          </a:bodyPr>
          <a:lstStyle/>
          <a:p>
            <a:pPr algn="l" indent="0" marL="0">
              <a:lnSpc>
                <a:spcPct val="119270"/>
              </a:lnSpc>
              <a:buNone/>
            </a:pPr>
            <a:r>
              <a:rPr lang="en-US" sz="1800" spc="144" kern="0" dirty="0">
                <a:solidFill>
                  <a:srgbClr val="B68235"/>
                </a:solidFill>
                <a:latin typeface="Lora" pitchFamily="34" charset="0"/>
                <a:ea typeface="Lora" pitchFamily="34" charset="-122"/>
                <a:cs typeface="Lora" pitchFamily="34" charset="-120"/>
              </a:rPr>
              <a:t>CONCLUSION</a:t>
            </a:r>
            <a:endParaRPr lang="en-US" sz="1800" dirty="0"/>
          </a:p>
        </p:txBody>
      </p:sp>
      <p:sp>
        <p:nvSpPr>
          <p:cNvPr id="3" name="Text 1"/>
          <p:cNvSpPr/>
          <p:nvPr/>
        </p:nvSpPr>
        <p:spPr>
          <a:xfrm>
            <a:off x="1371515" y="3245716"/>
            <a:ext cx="9264858" cy="3009830"/>
          </a:xfrm>
          <a:prstGeom prst="rect">
            <a:avLst/>
          </a:prstGeom>
          <a:noFill/>
          <a:ln/>
        </p:spPr>
        <p:txBody>
          <a:bodyPr wrap="square" lIns="25400" tIns="25400" rIns="25400" bIns="25400" rtlCol="0" anchor="t">
            <a:normAutofit/>
          </a:bodyPr>
          <a:lstStyle/>
          <a:p>
            <a:pPr algn="l" indent="0" marL="0">
              <a:lnSpc>
                <a:spcPct val="97651"/>
              </a:lnSpc>
              <a:buNone/>
            </a:pPr>
            <a:r>
              <a:rPr lang="en-US" sz="4950" spc="-25" kern="0" dirty="0">
                <a:solidFill>
                  <a:srgbClr val="201F1D"/>
                </a:solidFill>
                <a:latin typeface="Cormorant Garamond" pitchFamily="34" charset="0"/>
                <a:ea typeface="Cormorant Garamond" pitchFamily="34" charset="-122"/>
                <a:cs typeface="Cormorant Garamond" pitchFamily="34" charset="-120"/>
              </a:rPr>
              <a:t>“Je voulais seulement dire honnêtement aux gens : regardez-vous, regardez comme vous vivez tous mal et de façon ennuyeuse.”</a:t>
            </a:r>
            <a:endParaRPr lang="en-US" sz="4950" dirty="0"/>
          </a:p>
        </p:txBody>
      </p:sp>
      <p:sp>
        <p:nvSpPr>
          <p:cNvPr id="4" name="Text 2"/>
          <p:cNvSpPr/>
          <p:nvPr/>
        </p:nvSpPr>
        <p:spPr>
          <a:xfrm>
            <a:off x="1371515" y="6712659"/>
            <a:ext cx="17099347" cy="481006"/>
          </a:xfrm>
          <a:prstGeom prst="rect">
            <a:avLst/>
          </a:prstGeom>
          <a:noFill/>
          <a:ln/>
        </p:spPr>
        <p:txBody>
          <a:bodyPr wrap="square" lIns="25400" tIns="25400" rIns="25400" bIns="25400" rtlCol="0" anchor="t">
            <a:normAutofit/>
          </a:bodyPr>
          <a:lstStyle/>
          <a:p>
            <a:pPr algn="l" indent="0" marL="0">
              <a:lnSpc>
                <a:spcPct val="119855"/>
              </a:lnSpc>
              <a:buNone/>
            </a:pPr>
            <a:r>
              <a:rPr lang="en-US" sz="2250" dirty="0">
                <a:solidFill>
                  <a:srgbClr val="211F1D">
                    <a:alpha val="55000"/>
                  </a:srgbClr>
                </a:solidFill>
                <a:latin typeface="Lora" pitchFamily="34" charset="0"/>
                <a:ea typeface="Lora" pitchFamily="34" charset="-122"/>
                <a:cs typeface="Lora" pitchFamily="34" charset="-120"/>
              </a:rPr>
              <a:t>— propos rapporté par A. Tikhonov-Sérébrov</a:t>
            </a:r>
            <a:endParaRPr lang="en-US" sz="2250" dirty="0"/>
          </a:p>
        </p:txBody>
      </p:sp>
      <p:pic>
        <p:nvPicPr>
          <p:cNvPr id="5" name="Image 0" descr="preencoded.png">    </p:cNvPr>
          <p:cNvPicPr>
            <a:picLocks noChangeAspect="1"/>
          </p:cNvPicPr>
          <p:nvPr/>
        </p:nvPicPr>
        <p:blipFill>
          <a:blip r:embed="rId1"/>
          <a:stretch>
            <a:fillRect/>
          </a:stretch>
        </p:blipFill>
        <p:spPr>
          <a:xfrm>
            <a:off x="1371515" y="9745979"/>
            <a:ext cx="2592225" cy="1599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2026-09-13T14:02:29Z</dcterms:created>
  <dcterms:modified xsi:type="dcterms:W3CDTF">2026-09-13T14:02:29Z</dcterms:modified>
</cp:coreProperties>
</file>